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81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6277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509760" y="-1463040"/>
            <a:ext cx="4754880" cy="4754880"/>
          </a:xfrm>
          <a:prstGeom prst="ellipse">
            <a:avLst/>
          </a:prstGeom>
          <a:solidFill>
            <a:srgbClr val="141A45"/>
          </a:solidFill>
          <a:ln/>
        </p:spPr>
      </p:sp>
      <p:sp>
        <p:nvSpPr>
          <p:cNvPr id="3" name="Shape 1"/>
          <p:cNvSpPr/>
          <p:nvPr/>
        </p:nvSpPr>
        <p:spPr>
          <a:xfrm>
            <a:off x="-1645920" y="4754880"/>
            <a:ext cx="3840480" cy="3840480"/>
          </a:xfrm>
          <a:prstGeom prst="ellipse">
            <a:avLst/>
          </a:prstGeom>
          <a:solidFill>
            <a:srgbClr val="141A45"/>
          </a:solidFill>
          <a:ln/>
        </p:spPr>
      </p:sp>
      <p:sp>
        <p:nvSpPr>
          <p:cNvPr id="4" name="Shape 2"/>
          <p:cNvSpPr/>
          <p:nvPr/>
        </p:nvSpPr>
        <p:spPr>
          <a:xfrm>
            <a:off x="822960" y="822960"/>
            <a:ext cx="914400" cy="914400"/>
          </a:xfrm>
          <a:prstGeom prst="ellipse">
            <a:avLst/>
          </a:prstGeom>
          <a:solidFill>
            <a:srgbClr val="02C39A"/>
          </a:solidFill>
          <a:ln/>
        </p:spPr>
      </p:sp>
      <p:pic>
        <p:nvPicPr>
          <p:cNvPr id="5" name="Image 0" descr="/home/claude/pet_ppt/shield.png"/>
          <p:cNvPicPr>
            <a:picLocks noChangeAspect="1"/>
          </p:cNvPicPr>
          <p:nvPr/>
        </p:nvPicPr>
        <p:blipFill>
          <a:blip r:embed="rId3"/>
          <a:stretch>
            <a:fillRect/>
          </a:stretch>
        </p:blipFill>
        <p:spPr>
          <a:xfrm>
            <a:off x="941832" y="941832"/>
            <a:ext cx="676656" cy="676656"/>
          </a:xfrm>
          <a:prstGeom prst="rect">
            <a:avLst/>
          </a:prstGeom>
        </p:spPr>
      </p:pic>
      <p:sp>
        <p:nvSpPr>
          <p:cNvPr id="6" name="Text 3"/>
          <p:cNvSpPr/>
          <p:nvPr/>
        </p:nvSpPr>
        <p:spPr>
          <a:xfrm>
            <a:off x="822960" y="1965960"/>
            <a:ext cx="7315200" cy="320040"/>
          </a:xfrm>
          <a:prstGeom prst="rect">
            <a:avLst/>
          </a:prstGeom>
          <a:noFill/>
          <a:ln/>
        </p:spPr>
        <p:txBody>
          <a:bodyPr wrap="square" rtlCol="0" anchor="ctr"/>
          <a:lstStyle/>
          <a:p>
            <a:pPr marL="0" indent="0">
              <a:buNone/>
            </a:pPr>
            <a:endParaRPr lang="en-US" sz="1300" dirty="0"/>
          </a:p>
        </p:txBody>
      </p:sp>
      <p:sp>
        <p:nvSpPr>
          <p:cNvPr id="7" name="Text 4"/>
          <p:cNvSpPr/>
          <p:nvPr/>
        </p:nvSpPr>
        <p:spPr>
          <a:xfrm>
            <a:off x="777240" y="2331720"/>
            <a:ext cx="9875520" cy="1737360"/>
          </a:xfrm>
          <a:prstGeom prst="rect">
            <a:avLst/>
          </a:prstGeom>
          <a:noFill/>
          <a:ln/>
        </p:spPr>
        <p:txBody>
          <a:bodyPr wrap="square" lIns="0" tIns="0" rIns="0" bIns="0"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Privacy-Enhancing Technologies</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and Data Protection</a:t>
            </a:r>
            <a:endParaRPr lang="en-US" sz="4000" dirty="0"/>
          </a:p>
        </p:txBody>
      </p:sp>
      <p:sp>
        <p:nvSpPr>
          <p:cNvPr id="8" name="Text 5"/>
          <p:cNvSpPr/>
          <p:nvPr/>
        </p:nvSpPr>
        <p:spPr>
          <a:xfrm>
            <a:off x="822960" y="4160520"/>
            <a:ext cx="8686800" cy="45720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Safeguarding personal data in an era of AI, cloud computing, and big data</a:t>
            </a:r>
            <a:endParaRPr lang="en-US" sz="1600" dirty="0"/>
          </a:p>
        </p:txBody>
      </p:sp>
      <p:sp>
        <p:nvSpPr>
          <p:cNvPr id="9" name="Shape 6"/>
          <p:cNvSpPr/>
          <p:nvPr/>
        </p:nvSpPr>
        <p:spPr>
          <a:xfrm>
            <a:off x="822960" y="4892040"/>
            <a:ext cx="2011680" cy="0"/>
          </a:xfrm>
          <a:prstGeom prst="line">
            <a:avLst/>
          </a:prstGeom>
          <a:noFill/>
          <a:ln w="31750">
            <a:solidFill>
              <a:srgbClr val="02C39A"/>
            </a:solidFill>
            <a:prstDash val="solid"/>
          </a:ln>
        </p:spPr>
      </p:sp>
      <p:sp>
        <p:nvSpPr>
          <p:cNvPr id="10" name="Text 7"/>
          <p:cNvSpPr/>
          <p:nvPr/>
        </p:nvSpPr>
        <p:spPr>
          <a:xfrm>
            <a:off x="822960" y="5989320"/>
            <a:ext cx="731520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Lokesh  |  CSE| SIMATS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01  ·  INTRODUCTION</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Introduction to the Emerging Technology</a:t>
            </a:r>
            <a:endParaRPr lang="en-US" sz="3000" dirty="0"/>
          </a:p>
        </p:txBody>
      </p:sp>
      <p:sp>
        <p:nvSpPr>
          <p:cNvPr id="4" name="Shape 2"/>
          <p:cNvSpPr/>
          <p:nvPr/>
        </p:nvSpPr>
        <p:spPr>
          <a:xfrm>
            <a:off x="9692640" y="502920"/>
            <a:ext cx="1371600" cy="1371600"/>
          </a:xfrm>
          <a:prstGeom prst="ellipse">
            <a:avLst/>
          </a:prstGeom>
          <a:solidFill>
            <a:srgbClr val="02C39A"/>
          </a:solidFill>
          <a:ln/>
        </p:spPr>
      </p:sp>
      <p:pic>
        <p:nvPicPr>
          <p:cNvPr id="5" name="Image 0" descr="/home/claude/pet_ppt/intro.png"/>
          <p:cNvPicPr>
            <a:picLocks noChangeAspect="1"/>
          </p:cNvPicPr>
          <p:nvPr/>
        </p:nvPicPr>
        <p:blipFill>
          <a:blip r:embed="rId3"/>
          <a:stretch>
            <a:fillRect/>
          </a:stretch>
        </p:blipFill>
        <p:spPr>
          <a:xfrm>
            <a:off x="9870948" y="681228"/>
            <a:ext cx="1014984" cy="1014984"/>
          </a:xfrm>
          <a:prstGeom prst="rect">
            <a:avLst/>
          </a:prstGeom>
        </p:spPr>
      </p:pic>
      <p:sp>
        <p:nvSpPr>
          <p:cNvPr id="6" name="Text 3"/>
          <p:cNvSpPr/>
          <p:nvPr/>
        </p:nvSpPr>
        <p:spPr>
          <a:xfrm>
            <a:off x="548640" y="1600200"/>
            <a:ext cx="8778240" cy="914400"/>
          </a:xfrm>
          <a:prstGeom prst="rect">
            <a:avLst/>
          </a:prstGeom>
          <a:noFill/>
          <a:ln/>
        </p:spPr>
        <p:txBody>
          <a:bodyPr wrap="square" rtlCol="0" anchor="ctr"/>
          <a:lstStyle/>
          <a:p>
            <a:pPr marL="0" indent="0">
              <a:lnSpc>
                <a:spcPct val="125000"/>
              </a:lnSpc>
              <a:buNone/>
            </a:pPr>
            <a:r>
              <a:rPr lang="en-US" sz="1500" dirty="0">
                <a:solidFill>
                  <a:srgbClr val="1B1F3B"/>
                </a:solidFill>
                <a:latin typeface="Calibri" pitchFamily="34" charset="0"/>
                <a:ea typeface="Calibri" pitchFamily="34" charset="-122"/>
                <a:cs typeface="Calibri" pitchFamily="34" charset="-120"/>
              </a:rPr>
              <a:t>Privacy-Enhancing Technologies (PETs) are a family of tools, protocols, and methods engineered to protect personal and sensitive data while still allowing that data to be used, shared, or analyzed.</a:t>
            </a:r>
            <a:endParaRPr lang="en-US" sz="1500" dirty="0"/>
          </a:p>
        </p:txBody>
      </p:sp>
      <p:sp>
        <p:nvSpPr>
          <p:cNvPr id="7" name="Shape 4"/>
          <p:cNvSpPr/>
          <p:nvPr/>
        </p:nvSpPr>
        <p:spPr>
          <a:xfrm>
            <a:off x="548640" y="2743200"/>
            <a:ext cx="3520440" cy="1874520"/>
          </a:xfrm>
          <a:prstGeom prst="roundRect">
            <a:avLst>
              <a:gd name="adj" fmla="val 3902"/>
            </a:avLst>
          </a:prstGeom>
          <a:solidFill>
            <a:srgbClr val="FFFFFF"/>
          </a:solidFill>
          <a:ln/>
          <a:effectLst>
            <a:outerShdw blurRad="101600" dist="38100" dir="5400000" algn="bl" rotWithShape="0">
              <a:srgbClr val="1B1F3B">
                <a:alpha val="12000"/>
              </a:srgbClr>
            </a:outerShdw>
          </a:effectLst>
        </p:spPr>
      </p:sp>
      <p:sp>
        <p:nvSpPr>
          <p:cNvPr id="8" name="Text 5"/>
          <p:cNvSpPr/>
          <p:nvPr/>
        </p:nvSpPr>
        <p:spPr>
          <a:xfrm>
            <a:off x="777240" y="2926080"/>
            <a:ext cx="306324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Minimize</a:t>
            </a:r>
            <a:endParaRPr lang="en-US" sz="1600" dirty="0"/>
          </a:p>
        </p:txBody>
      </p:sp>
      <p:sp>
        <p:nvSpPr>
          <p:cNvPr id="9" name="Text 6"/>
          <p:cNvSpPr/>
          <p:nvPr/>
        </p:nvSpPr>
        <p:spPr>
          <a:xfrm>
            <a:off x="777240" y="3337560"/>
            <a:ext cx="3063240" cy="1143000"/>
          </a:xfrm>
          <a:prstGeom prst="rect">
            <a:avLst/>
          </a:prstGeom>
          <a:noFill/>
          <a:ln/>
        </p:spPr>
        <p:txBody>
          <a:bodyPr wrap="square" rtlCol="0" anchor="ctr"/>
          <a:lstStyle/>
          <a:p>
            <a:pPr marL="0" indent="0">
              <a:lnSpc>
                <a:spcPct val="125000"/>
              </a:lnSpc>
              <a:buNone/>
            </a:pPr>
            <a:r>
              <a:rPr lang="en-US" sz="1250" dirty="0">
                <a:solidFill>
                  <a:srgbClr val="5B6178"/>
                </a:solidFill>
                <a:latin typeface="Calibri" pitchFamily="34" charset="0"/>
                <a:ea typeface="Calibri" pitchFamily="34" charset="-122"/>
                <a:cs typeface="Calibri" pitchFamily="34" charset="-120"/>
              </a:rPr>
              <a:t>Collect and expose only the data strictly needed for a task</a:t>
            </a:r>
            <a:endParaRPr lang="en-US" sz="1250" dirty="0"/>
          </a:p>
        </p:txBody>
      </p:sp>
      <p:sp>
        <p:nvSpPr>
          <p:cNvPr id="10" name="Shape 7"/>
          <p:cNvSpPr/>
          <p:nvPr/>
        </p:nvSpPr>
        <p:spPr>
          <a:xfrm>
            <a:off x="4251960" y="2743200"/>
            <a:ext cx="3520440" cy="1874520"/>
          </a:xfrm>
          <a:prstGeom prst="roundRect">
            <a:avLst>
              <a:gd name="adj" fmla="val 3902"/>
            </a:avLst>
          </a:prstGeom>
          <a:solidFill>
            <a:srgbClr val="FFFFFF"/>
          </a:solidFill>
          <a:ln/>
          <a:effectLst>
            <a:outerShdw blurRad="101600" dist="38100" dir="5400000" algn="bl" rotWithShape="0">
              <a:srgbClr val="1B1F3B">
                <a:alpha val="12000"/>
              </a:srgbClr>
            </a:outerShdw>
          </a:effectLst>
        </p:spPr>
      </p:sp>
      <p:sp>
        <p:nvSpPr>
          <p:cNvPr id="11" name="Text 8"/>
          <p:cNvSpPr/>
          <p:nvPr/>
        </p:nvSpPr>
        <p:spPr>
          <a:xfrm>
            <a:off x="4480560" y="2926080"/>
            <a:ext cx="306324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Transform</a:t>
            </a:r>
            <a:endParaRPr lang="en-US" sz="1600" dirty="0"/>
          </a:p>
        </p:txBody>
      </p:sp>
      <p:sp>
        <p:nvSpPr>
          <p:cNvPr id="12" name="Text 9"/>
          <p:cNvSpPr/>
          <p:nvPr/>
        </p:nvSpPr>
        <p:spPr>
          <a:xfrm>
            <a:off x="4480560" y="3337560"/>
            <a:ext cx="3063240" cy="1143000"/>
          </a:xfrm>
          <a:prstGeom prst="rect">
            <a:avLst/>
          </a:prstGeom>
          <a:noFill/>
          <a:ln/>
        </p:spPr>
        <p:txBody>
          <a:bodyPr wrap="square" rtlCol="0" anchor="ctr"/>
          <a:lstStyle/>
          <a:p>
            <a:pPr marL="0" indent="0">
              <a:lnSpc>
                <a:spcPct val="125000"/>
              </a:lnSpc>
              <a:buNone/>
            </a:pPr>
            <a:r>
              <a:rPr lang="en-US" sz="1250" dirty="0">
                <a:solidFill>
                  <a:srgbClr val="5B6178"/>
                </a:solidFill>
                <a:latin typeface="Calibri" pitchFamily="34" charset="0"/>
                <a:ea typeface="Calibri" pitchFamily="34" charset="-122"/>
                <a:cs typeface="Calibri" pitchFamily="34" charset="-120"/>
              </a:rPr>
              <a:t>Encrypt, anonymize, or add noise so raw data is never exposed</a:t>
            </a:r>
            <a:endParaRPr lang="en-US" sz="1250" dirty="0"/>
          </a:p>
        </p:txBody>
      </p:sp>
      <p:sp>
        <p:nvSpPr>
          <p:cNvPr id="13" name="Shape 10"/>
          <p:cNvSpPr/>
          <p:nvPr/>
        </p:nvSpPr>
        <p:spPr>
          <a:xfrm>
            <a:off x="7955280" y="2743200"/>
            <a:ext cx="3520440" cy="1874520"/>
          </a:xfrm>
          <a:prstGeom prst="roundRect">
            <a:avLst>
              <a:gd name="adj" fmla="val 3902"/>
            </a:avLst>
          </a:prstGeom>
          <a:solidFill>
            <a:srgbClr val="FFFFFF"/>
          </a:solidFill>
          <a:ln/>
          <a:effectLst>
            <a:outerShdw blurRad="101600" dist="38100" dir="5400000" algn="bl" rotWithShape="0">
              <a:srgbClr val="1B1F3B">
                <a:alpha val="12000"/>
              </a:srgbClr>
            </a:outerShdw>
          </a:effectLst>
        </p:spPr>
      </p:sp>
      <p:sp>
        <p:nvSpPr>
          <p:cNvPr id="14" name="Text 11"/>
          <p:cNvSpPr/>
          <p:nvPr/>
        </p:nvSpPr>
        <p:spPr>
          <a:xfrm>
            <a:off x="8183880" y="2926080"/>
            <a:ext cx="306324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Enable Trust</a:t>
            </a:r>
            <a:endParaRPr lang="en-US" sz="1600" dirty="0"/>
          </a:p>
        </p:txBody>
      </p:sp>
      <p:sp>
        <p:nvSpPr>
          <p:cNvPr id="15" name="Text 12"/>
          <p:cNvSpPr/>
          <p:nvPr/>
        </p:nvSpPr>
        <p:spPr>
          <a:xfrm>
            <a:off x="8183880" y="3337560"/>
            <a:ext cx="3063240" cy="1143000"/>
          </a:xfrm>
          <a:prstGeom prst="rect">
            <a:avLst/>
          </a:prstGeom>
          <a:noFill/>
          <a:ln/>
        </p:spPr>
        <p:txBody>
          <a:bodyPr wrap="square" rtlCol="0" anchor="ctr"/>
          <a:lstStyle/>
          <a:p>
            <a:pPr marL="0" indent="0">
              <a:lnSpc>
                <a:spcPct val="125000"/>
              </a:lnSpc>
              <a:buNone/>
            </a:pPr>
            <a:r>
              <a:rPr lang="en-US" sz="1250" dirty="0">
                <a:solidFill>
                  <a:srgbClr val="5B6178"/>
                </a:solidFill>
                <a:latin typeface="Calibri" pitchFamily="34" charset="0"/>
                <a:ea typeface="Calibri" pitchFamily="34" charset="-122"/>
                <a:cs typeface="Calibri" pitchFamily="34" charset="-120"/>
              </a:rPr>
              <a:t>Let organizations analyze and share data without violating privacy</a:t>
            </a:r>
            <a:endParaRPr lang="en-US" sz="1250" dirty="0"/>
          </a:p>
        </p:txBody>
      </p:sp>
      <p:sp>
        <p:nvSpPr>
          <p:cNvPr id="16" name="Text 13"/>
          <p:cNvSpPr/>
          <p:nvPr/>
        </p:nvSpPr>
        <p:spPr>
          <a:xfrm>
            <a:off x="548640" y="4892040"/>
            <a:ext cx="10424160" cy="822960"/>
          </a:xfrm>
          <a:prstGeom prst="rect">
            <a:avLst/>
          </a:prstGeom>
          <a:noFill/>
          <a:ln/>
        </p:spPr>
        <p:txBody>
          <a:bodyPr wrap="square" rtlCol="0" anchor="ctr"/>
          <a:lstStyle/>
          <a:p>
            <a:pPr marL="0" indent="0">
              <a:lnSpc>
                <a:spcPct val="125000"/>
              </a:lnSpc>
              <a:buNone/>
            </a:pPr>
            <a:r>
              <a:rPr lang="en-US" sz="1350" i="1" dirty="0">
                <a:solidFill>
                  <a:srgbClr val="5B6178"/>
                </a:solidFill>
                <a:latin typeface="Calibri" pitchFamily="34" charset="0"/>
                <a:ea typeface="Calibri" pitchFamily="34" charset="-122"/>
                <a:cs typeface="Calibri" pitchFamily="34" charset="-120"/>
              </a:rPr>
              <a:t>As AI systems, cloud platforms, and IoT devices generate unprecedented volumes of personal data, PETs have moved from a niche research area to a core requirement for responsible technology design.</a:t>
            </a:r>
            <a:endParaRPr lang="en-US" sz="1350" dirty="0"/>
          </a:p>
        </p:txBody>
      </p:sp>
      <p:sp>
        <p:nvSpPr>
          <p:cNvPr id="17" name="Text 1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02  ·  NEED AND MOTIVATION</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Need and Motivation</a:t>
            </a:r>
            <a:endParaRPr lang="en-US" sz="3000" dirty="0"/>
          </a:p>
        </p:txBody>
      </p:sp>
      <p:sp>
        <p:nvSpPr>
          <p:cNvPr id="4" name="Shape 2"/>
          <p:cNvSpPr/>
          <p:nvPr/>
        </p:nvSpPr>
        <p:spPr>
          <a:xfrm>
            <a:off x="9692640" y="502920"/>
            <a:ext cx="1371600" cy="1371600"/>
          </a:xfrm>
          <a:prstGeom prst="ellipse">
            <a:avLst/>
          </a:prstGeom>
          <a:solidFill>
            <a:srgbClr val="02C39A"/>
          </a:solidFill>
          <a:ln/>
        </p:spPr>
      </p:sp>
      <p:pic>
        <p:nvPicPr>
          <p:cNvPr id="5" name="Image 0" descr="/home/claude/pet_ppt/need.png"/>
          <p:cNvPicPr>
            <a:picLocks noChangeAspect="1"/>
          </p:cNvPicPr>
          <p:nvPr/>
        </p:nvPicPr>
        <p:blipFill>
          <a:blip r:embed="rId3"/>
          <a:stretch>
            <a:fillRect/>
          </a:stretch>
        </p:blipFill>
        <p:spPr>
          <a:xfrm>
            <a:off x="9870948" y="681228"/>
            <a:ext cx="1014984" cy="1014984"/>
          </a:xfrm>
          <a:prstGeom prst="rect">
            <a:avLst/>
          </a:prstGeom>
        </p:spPr>
      </p:pic>
      <p:sp>
        <p:nvSpPr>
          <p:cNvPr id="6" name="Shape 3"/>
          <p:cNvSpPr/>
          <p:nvPr/>
        </p:nvSpPr>
        <p:spPr>
          <a:xfrm>
            <a:off x="548640" y="1783080"/>
            <a:ext cx="457200" cy="457200"/>
          </a:xfrm>
          <a:prstGeom prst="roundRect">
            <a:avLst>
              <a:gd name="adj" fmla="val 50000"/>
            </a:avLst>
          </a:prstGeom>
          <a:solidFill>
            <a:srgbClr val="1E2761"/>
          </a:solidFill>
          <a:ln/>
        </p:spPr>
      </p:sp>
      <p:sp>
        <p:nvSpPr>
          <p:cNvPr id="7" name="Text 4"/>
          <p:cNvSpPr/>
          <p:nvPr/>
        </p:nvSpPr>
        <p:spPr>
          <a:xfrm>
            <a:off x="548640" y="17830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5"/>
          <p:cNvSpPr/>
          <p:nvPr/>
        </p:nvSpPr>
        <p:spPr>
          <a:xfrm>
            <a:off x="1234440" y="1755648"/>
            <a:ext cx="3291840" cy="512064"/>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Rising data breaches</a:t>
            </a:r>
            <a:endParaRPr lang="en-US" sz="1450" dirty="0"/>
          </a:p>
        </p:txBody>
      </p:sp>
      <p:sp>
        <p:nvSpPr>
          <p:cNvPr id="9" name="Text 6"/>
          <p:cNvSpPr/>
          <p:nvPr/>
        </p:nvSpPr>
        <p:spPr>
          <a:xfrm>
            <a:off x="4617720" y="1737360"/>
            <a:ext cx="6355080" cy="548640"/>
          </a:xfrm>
          <a:prstGeom prst="rect">
            <a:avLst/>
          </a:prstGeom>
          <a:noFill/>
          <a:ln/>
        </p:spPr>
        <p:txBody>
          <a:bodyPr wrap="square" rtlCol="0" anchor="ctr"/>
          <a:lstStyle/>
          <a:p>
            <a:pPr marL="0" indent="0">
              <a:lnSpc>
                <a:spcPct val="115000"/>
              </a:lnSpc>
              <a:buNone/>
            </a:pPr>
            <a:r>
              <a:rPr lang="en-US" sz="1250" dirty="0">
                <a:solidFill>
                  <a:srgbClr val="5B6178"/>
                </a:solidFill>
                <a:latin typeface="Calibri" pitchFamily="34" charset="0"/>
                <a:ea typeface="Calibri" pitchFamily="34" charset="-122"/>
                <a:cs typeface="Calibri" pitchFamily="34" charset="-120"/>
              </a:rPr>
              <a:t>Billions of records are exposed every year, eroding user trust and causing major financial and reputational damage.</a:t>
            </a:r>
            <a:endParaRPr lang="en-US" sz="1250" dirty="0"/>
          </a:p>
        </p:txBody>
      </p:sp>
      <p:sp>
        <p:nvSpPr>
          <p:cNvPr id="10" name="Shape 7"/>
          <p:cNvSpPr/>
          <p:nvPr/>
        </p:nvSpPr>
        <p:spPr>
          <a:xfrm>
            <a:off x="548640" y="2441448"/>
            <a:ext cx="457200" cy="457200"/>
          </a:xfrm>
          <a:prstGeom prst="roundRect">
            <a:avLst>
              <a:gd name="adj" fmla="val 50000"/>
            </a:avLst>
          </a:prstGeom>
          <a:solidFill>
            <a:srgbClr val="02C39A"/>
          </a:solidFill>
          <a:ln/>
        </p:spPr>
      </p:sp>
      <p:sp>
        <p:nvSpPr>
          <p:cNvPr id="11" name="Text 8"/>
          <p:cNvSpPr/>
          <p:nvPr/>
        </p:nvSpPr>
        <p:spPr>
          <a:xfrm>
            <a:off x="548640" y="2441448"/>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p:nvPr/>
        </p:nvSpPr>
        <p:spPr>
          <a:xfrm>
            <a:off x="1234440" y="2414016"/>
            <a:ext cx="3291840" cy="512064"/>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Stricter regulation</a:t>
            </a:r>
            <a:endParaRPr lang="en-US" sz="1450" dirty="0"/>
          </a:p>
        </p:txBody>
      </p:sp>
      <p:sp>
        <p:nvSpPr>
          <p:cNvPr id="13" name="Text 10"/>
          <p:cNvSpPr/>
          <p:nvPr/>
        </p:nvSpPr>
        <p:spPr>
          <a:xfrm>
            <a:off x="4617720" y="2395728"/>
            <a:ext cx="6355080" cy="548640"/>
          </a:xfrm>
          <a:prstGeom prst="rect">
            <a:avLst/>
          </a:prstGeom>
          <a:noFill/>
          <a:ln/>
        </p:spPr>
        <p:txBody>
          <a:bodyPr wrap="square" rtlCol="0" anchor="ctr"/>
          <a:lstStyle/>
          <a:p>
            <a:pPr marL="0" indent="0">
              <a:lnSpc>
                <a:spcPct val="115000"/>
              </a:lnSpc>
              <a:buNone/>
            </a:pPr>
            <a:r>
              <a:rPr lang="en-US" sz="1250" dirty="0">
                <a:solidFill>
                  <a:srgbClr val="5B6178"/>
                </a:solidFill>
                <a:latin typeface="Calibri" pitchFamily="34" charset="0"/>
                <a:ea typeface="Calibri" pitchFamily="34" charset="-122"/>
                <a:cs typeface="Calibri" pitchFamily="34" charset="-120"/>
              </a:rPr>
              <a:t>Laws such as GDPR (EU), CCPA (US), and India's DPDP Act 2023 mandate strong safeguards for personal data.</a:t>
            </a:r>
            <a:endParaRPr lang="en-US" sz="1250" dirty="0"/>
          </a:p>
        </p:txBody>
      </p:sp>
      <p:sp>
        <p:nvSpPr>
          <p:cNvPr id="14" name="Shape 11"/>
          <p:cNvSpPr/>
          <p:nvPr/>
        </p:nvSpPr>
        <p:spPr>
          <a:xfrm>
            <a:off x="548640" y="3099816"/>
            <a:ext cx="457200" cy="457200"/>
          </a:xfrm>
          <a:prstGeom prst="roundRect">
            <a:avLst>
              <a:gd name="adj" fmla="val 50000"/>
            </a:avLst>
          </a:prstGeom>
          <a:solidFill>
            <a:srgbClr val="1E2761"/>
          </a:solidFill>
          <a:ln/>
        </p:spPr>
      </p:sp>
      <p:sp>
        <p:nvSpPr>
          <p:cNvPr id="15" name="Text 12"/>
          <p:cNvSpPr/>
          <p:nvPr/>
        </p:nvSpPr>
        <p:spPr>
          <a:xfrm>
            <a:off x="548640" y="3099816"/>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3"/>
          <p:cNvSpPr/>
          <p:nvPr/>
        </p:nvSpPr>
        <p:spPr>
          <a:xfrm>
            <a:off x="1234440" y="3072384"/>
            <a:ext cx="3291840" cy="512064"/>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Explosion of data collection</a:t>
            </a:r>
            <a:endParaRPr lang="en-US" sz="1450" dirty="0"/>
          </a:p>
        </p:txBody>
      </p:sp>
      <p:sp>
        <p:nvSpPr>
          <p:cNvPr id="17" name="Text 14"/>
          <p:cNvSpPr/>
          <p:nvPr/>
        </p:nvSpPr>
        <p:spPr>
          <a:xfrm>
            <a:off x="4617720" y="3054096"/>
            <a:ext cx="6355080" cy="548640"/>
          </a:xfrm>
          <a:prstGeom prst="rect">
            <a:avLst/>
          </a:prstGeom>
          <a:noFill/>
          <a:ln/>
        </p:spPr>
        <p:txBody>
          <a:bodyPr wrap="square" rtlCol="0" anchor="ctr"/>
          <a:lstStyle/>
          <a:p>
            <a:pPr marL="0" indent="0">
              <a:lnSpc>
                <a:spcPct val="115000"/>
              </a:lnSpc>
              <a:buNone/>
            </a:pPr>
            <a:r>
              <a:rPr lang="en-US" sz="1250" dirty="0">
                <a:solidFill>
                  <a:srgbClr val="5B6178"/>
                </a:solidFill>
                <a:latin typeface="Calibri" pitchFamily="34" charset="0"/>
                <a:ea typeface="Calibri" pitchFamily="34" charset="-122"/>
                <a:cs typeface="Calibri" pitchFamily="34" charset="-120"/>
              </a:rPr>
              <a:t>Mobile apps, IoT devices, and AI systems continuously gather sensitive behavioural and biometric data.</a:t>
            </a:r>
            <a:endParaRPr lang="en-US" sz="1250" dirty="0"/>
          </a:p>
        </p:txBody>
      </p:sp>
      <p:sp>
        <p:nvSpPr>
          <p:cNvPr id="18" name="Shape 15"/>
          <p:cNvSpPr/>
          <p:nvPr/>
        </p:nvSpPr>
        <p:spPr>
          <a:xfrm>
            <a:off x="548640" y="3758184"/>
            <a:ext cx="457200" cy="457200"/>
          </a:xfrm>
          <a:prstGeom prst="roundRect">
            <a:avLst>
              <a:gd name="adj" fmla="val 50000"/>
            </a:avLst>
          </a:prstGeom>
          <a:solidFill>
            <a:srgbClr val="02C39A"/>
          </a:solidFill>
          <a:ln/>
        </p:spPr>
      </p:sp>
      <p:sp>
        <p:nvSpPr>
          <p:cNvPr id="19" name="Text 16"/>
          <p:cNvSpPr/>
          <p:nvPr/>
        </p:nvSpPr>
        <p:spPr>
          <a:xfrm>
            <a:off x="548640" y="3758184"/>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0" name="Text 17"/>
          <p:cNvSpPr/>
          <p:nvPr/>
        </p:nvSpPr>
        <p:spPr>
          <a:xfrm>
            <a:off x="1234440" y="3730752"/>
            <a:ext cx="3291840" cy="512064"/>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Conflict between utility and privacy</a:t>
            </a:r>
            <a:endParaRPr lang="en-US" sz="1450" dirty="0"/>
          </a:p>
        </p:txBody>
      </p:sp>
      <p:sp>
        <p:nvSpPr>
          <p:cNvPr id="21" name="Text 18"/>
          <p:cNvSpPr/>
          <p:nvPr/>
        </p:nvSpPr>
        <p:spPr>
          <a:xfrm>
            <a:off x="4617720" y="3712464"/>
            <a:ext cx="6355080" cy="548640"/>
          </a:xfrm>
          <a:prstGeom prst="rect">
            <a:avLst/>
          </a:prstGeom>
          <a:noFill/>
          <a:ln/>
        </p:spPr>
        <p:txBody>
          <a:bodyPr wrap="square" rtlCol="0" anchor="ctr"/>
          <a:lstStyle/>
          <a:p>
            <a:pPr marL="0" indent="0">
              <a:lnSpc>
                <a:spcPct val="115000"/>
              </a:lnSpc>
              <a:buNone/>
            </a:pPr>
            <a:r>
              <a:rPr lang="en-US" sz="1250" dirty="0">
                <a:solidFill>
                  <a:srgbClr val="5B6178"/>
                </a:solidFill>
                <a:latin typeface="Calibri" pitchFamily="34" charset="0"/>
                <a:ea typeface="Calibri" pitchFamily="34" charset="-122"/>
                <a:cs typeface="Calibri" pitchFamily="34" charset="-120"/>
              </a:rPr>
              <a:t>Organizations need data for analytics and AI, but raw data sharing creates re-identification risk.</a:t>
            </a:r>
            <a:endParaRPr lang="en-US" sz="1250" dirty="0"/>
          </a:p>
        </p:txBody>
      </p:sp>
      <p:sp>
        <p:nvSpPr>
          <p:cNvPr id="22" name="Shape 19"/>
          <p:cNvSpPr/>
          <p:nvPr/>
        </p:nvSpPr>
        <p:spPr>
          <a:xfrm>
            <a:off x="548640" y="4462272"/>
            <a:ext cx="10424160" cy="0"/>
          </a:xfrm>
          <a:prstGeom prst="line">
            <a:avLst/>
          </a:prstGeom>
          <a:noFill/>
          <a:ln w="12700">
            <a:solidFill>
              <a:srgbClr val="CADCFC"/>
            </a:solidFill>
            <a:prstDash val="solid"/>
          </a:ln>
        </p:spPr>
      </p:sp>
      <p:sp>
        <p:nvSpPr>
          <p:cNvPr id="23" name="Text 20"/>
          <p:cNvSpPr/>
          <p:nvPr/>
        </p:nvSpPr>
        <p:spPr>
          <a:xfrm>
            <a:off x="548640" y="4599432"/>
            <a:ext cx="10424160" cy="457200"/>
          </a:xfrm>
          <a:prstGeom prst="rect">
            <a:avLst/>
          </a:prstGeom>
          <a:noFill/>
          <a:ln/>
        </p:spPr>
        <p:txBody>
          <a:bodyPr wrap="square" rtlCol="0" anchor="ctr"/>
          <a:lstStyle/>
          <a:p>
            <a:pPr marL="0" indent="0">
              <a:buNone/>
            </a:pPr>
            <a:r>
              <a:rPr lang="en-US" sz="1300" b="1" i="1" dirty="0">
                <a:solidFill>
                  <a:srgbClr val="1E2761"/>
                </a:solidFill>
                <a:latin typeface="Calibri" pitchFamily="34" charset="0"/>
                <a:ea typeface="Calibri" pitchFamily="34" charset="-122"/>
                <a:cs typeface="Calibri" pitchFamily="34" charset="-120"/>
              </a:rPr>
              <a:t>Bottom line: organizations must protect individuals without sacrificing the value locked inside their data.</a:t>
            </a:r>
            <a:endParaRPr lang="en-US" sz="1300" dirty="0"/>
          </a:p>
        </p:txBody>
      </p:sp>
      <p:sp>
        <p:nvSpPr>
          <p:cNvPr id="24" name="Text 21"/>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03  ·  WORKING PRINCIPLE</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Working Principle / Architecture</a:t>
            </a:r>
            <a:endParaRPr lang="en-US" sz="3000" dirty="0"/>
          </a:p>
        </p:txBody>
      </p:sp>
      <p:sp>
        <p:nvSpPr>
          <p:cNvPr id="4" name="Shape 2"/>
          <p:cNvSpPr/>
          <p:nvPr/>
        </p:nvSpPr>
        <p:spPr>
          <a:xfrm>
            <a:off x="9692640" y="502920"/>
            <a:ext cx="1371600" cy="1371600"/>
          </a:xfrm>
          <a:prstGeom prst="ellipse">
            <a:avLst/>
          </a:prstGeom>
          <a:solidFill>
            <a:srgbClr val="02C39A"/>
          </a:solidFill>
          <a:ln/>
        </p:spPr>
      </p:sp>
      <p:pic>
        <p:nvPicPr>
          <p:cNvPr id="5" name="Image 0" descr="/home/claude/pet_ppt/arch.png"/>
          <p:cNvPicPr>
            <a:picLocks noChangeAspect="1"/>
          </p:cNvPicPr>
          <p:nvPr/>
        </p:nvPicPr>
        <p:blipFill>
          <a:blip r:embed="rId3"/>
          <a:stretch>
            <a:fillRect/>
          </a:stretch>
        </p:blipFill>
        <p:spPr>
          <a:xfrm>
            <a:off x="9870948" y="681228"/>
            <a:ext cx="1014984" cy="1014984"/>
          </a:xfrm>
          <a:prstGeom prst="rect">
            <a:avLst/>
          </a:prstGeom>
        </p:spPr>
      </p:pic>
      <p:sp>
        <p:nvSpPr>
          <p:cNvPr id="6" name="Shape 3"/>
          <p:cNvSpPr/>
          <p:nvPr/>
        </p:nvSpPr>
        <p:spPr>
          <a:xfrm>
            <a:off x="548640" y="2286000"/>
            <a:ext cx="2331720" cy="1371600"/>
          </a:xfrm>
          <a:prstGeom prst="roundRect">
            <a:avLst>
              <a:gd name="adj" fmla="val 5333"/>
            </a:avLst>
          </a:prstGeom>
          <a:solidFill>
            <a:srgbClr val="FFFFFF"/>
          </a:solidFill>
          <a:ln w="12700">
            <a:solidFill>
              <a:srgbClr val="CADCFC"/>
            </a:solidFill>
            <a:prstDash val="solid"/>
          </a:ln>
          <a:effectLst>
            <a:outerShdw blurRad="76200" dist="25400" dir="5400000" algn="bl" rotWithShape="0">
              <a:srgbClr val="1B1F3B">
                <a:alpha val="10000"/>
              </a:srgbClr>
            </a:outerShdw>
          </a:effectLst>
        </p:spPr>
      </p:sp>
      <p:sp>
        <p:nvSpPr>
          <p:cNvPr id="7" name="Text 4"/>
          <p:cNvSpPr/>
          <p:nvPr/>
        </p:nvSpPr>
        <p:spPr>
          <a:xfrm>
            <a:off x="685800" y="2423160"/>
            <a:ext cx="2057400" cy="457200"/>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Raw Data Source</a:t>
            </a:r>
            <a:endParaRPr lang="en-US" sz="1300" dirty="0"/>
          </a:p>
        </p:txBody>
      </p:sp>
      <p:sp>
        <p:nvSpPr>
          <p:cNvPr id="8" name="Text 5"/>
          <p:cNvSpPr/>
          <p:nvPr/>
        </p:nvSpPr>
        <p:spPr>
          <a:xfrm>
            <a:off x="685800" y="2852928"/>
            <a:ext cx="2057400" cy="731520"/>
          </a:xfrm>
          <a:prstGeom prst="rect">
            <a:avLst/>
          </a:prstGeom>
          <a:noFill/>
          <a:ln/>
        </p:spPr>
        <p:txBody>
          <a:bodyPr wrap="square" rtlCol="0" anchor="ctr"/>
          <a:lstStyle/>
          <a:p>
            <a:pPr marL="0" indent="0" algn="ctr">
              <a:lnSpc>
                <a:spcPct val="115000"/>
              </a:lnSpc>
              <a:buNone/>
            </a:pPr>
            <a:r>
              <a:rPr lang="en-US" sz="1050" dirty="0">
                <a:solidFill>
                  <a:srgbClr val="5B6178"/>
                </a:solidFill>
                <a:latin typeface="Calibri" pitchFamily="34" charset="0"/>
                <a:ea typeface="Calibri" pitchFamily="34" charset="-122"/>
                <a:cs typeface="Calibri" pitchFamily="34" charset="-120"/>
              </a:rPr>
              <a:t>Personal / sensitive data at rest</a:t>
            </a:r>
            <a:endParaRPr lang="en-US" sz="1050" dirty="0"/>
          </a:p>
          <a:p>
            <a:pPr marL="0" indent="0" algn="ctr">
              <a:lnSpc>
                <a:spcPct val="115000"/>
              </a:lnSpc>
              <a:buNone/>
            </a:pPr>
            <a:r>
              <a:rPr lang="en-US" sz="1050" dirty="0">
                <a:solidFill>
                  <a:srgbClr val="5B6178"/>
                </a:solidFill>
                <a:latin typeface="Calibri" pitchFamily="34" charset="0"/>
                <a:ea typeface="Calibri" pitchFamily="34" charset="-122"/>
                <a:cs typeface="Calibri" pitchFamily="34" charset="-120"/>
              </a:rPr>
              <a:t>(users, sensors, records)</a:t>
            </a:r>
            <a:endParaRPr lang="en-US" sz="1050" dirty="0"/>
          </a:p>
        </p:txBody>
      </p:sp>
      <p:sp>
        <p:nvSpPr>
          <p:cNvPr id="9" name="Text 6"/>
          <p:cNvSpPr/>
          <p:nvPr/>
        </p:nvSpPr>
        <p:spPr>
          <a:xfrm>
            <a:off x="2880360" y="2743200"/>
            <a:ext cx="384048" cy="457200"/>
          </a:xfrm>
          <a:prstGeom prst="rect">
            <a:avLst/>
          </a:prstGeom>
          <a:noFill/>
          <a:ln/>
        </p:spPr>
        <p:txBody>
          <a:bodyPr wrap="square" rtlCol="0" anchor="ctr"/>
          <a:lstStyle/>
          <a:p>
            <a:pPr marL="0" indent="0" algn="ctr">
              <a:buNone/>
            </a:pPr>
            <a:r>
              <a:rPr lang="en-US" sz="2200" b="1" dirty="0">
                <a:solidFill>
                  <a:srgbClr val="02C39A"/>
                </a:solidFill>
              </a:rPr>
              <a:t>→</a:t>
            </a:r>
            <a:endParaRPr lang="en-US" sz="2200" dirty="0"/>
          </a:p>
        </p:txBody>
      </p:sp>
      <p:sp>
        <p:nvSpPr>
          <p:cNvPr id="10" name="Shape 7"/>
          <p:cNvSpPr/>
          <p:nvPr/>
        </p:nvSpPr>
        <p:spPr>
          <a:xfrm>
            <a:off x="3264408" y="2286000"/>
            <a:ext cx="2331720" cy="1371600"/>
          </a:xfrm>
          <a:prstGeom prst="roundRect">
            <a:avLst>
              <a:gd name="adj" fmla="val 5333"/>
            </a:avLst>
          </a:prstGeom>
          <a:solidFill>
            <a:srgbClr val="1E2761"/>
          </a:solidFill>
          <a:ln w="12700">
            <a:solidFill>
              <a:srgbClr val="CADCFC"/>
            </a:solidFill>
            <a:prstDash val="solid"/>
          </a:ln>
          <a:effectLst>
            <a:outerShdw blurRad="76200" dist="25400" dir="5400000" algn="bl" rotWithShape="0">
              <a:srgbClr val="1B1F3B">
                <a:alpha val="10000"/>
              </a:srgbClr>
            </a:outerShdw>
          </a:effectLst>
        </p:spPr>
      </p:sp>
      <p:sp>
        <p:nvSpPr>
          <p:cNvPr id="11" name="Text 8"/>
          <p:cNvSpPr/>
          <p:nvPr/>
        </p:nvSpPr>
        <p:spPr>
          <a:xfrm>
            <a:off x="3401568" y="2423160"/>
            <a:ext cx="2057400" cy="45720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PET Processing Layer</a:t>
            </a:r>
            <a:endParaRPr lang="en-US" sz="1300" dirty="0"/>
          </a:p>
        </p:txBody>
      </p:sp>
      <p:sp>
        <p:nvSpPr>
          <p:cNvPr id="12" name="Text 9"/>
          <p:cNvSpPr/>
          <p:nvPr/>
        </p:nvSpPr>
        <p:spPr>
          <a:xfrm>
            <a:off x="3401568" y="2852928"/>
            <a:ext cx="2057400" cy="731520"/>
          </a:xfrm>
          <a:prstGeom prst="rect">
            <a:avLst/>
          </a:prstGeom>
          <a:noFill/>
          <a:ln/>
        </p:spPr>
        <p:txBody>
          <a:bodyPr wrap="square" rtlCol="0" anchor="ctr"/>
          <a:lstStyle/>
          <a:p>
            <a:pPr marL="0" indent="0" algn="ctr">
              <a:lnSpc>
                <a:spcPct val="115000"/>
              </a:lnSpc>
              <a:buNone/>
            </a:pPr>
            <a:r>
              <a:rPr lang="en-US" sz="1050" dirty="0">
                <a:solidFill>
                  <a:srgbClr val="CADCFC"/>
                </a:solidFill>
                <a:latin typeface="Calibri" pitchFamily="34" charset="0"/>
                <a:ea typeface="Calibri" pitchFamily="34" charset="-122"/>
                <a:cs typeface="Calibri" pitchFamily="34" charset="-120"/>
              </a:rPr>
              <a:t>Encryption, noise addition,</a:t>
            </a:r>
            <a:endParaRPr lang="en-US" sz="1050" dirty="0"/>
          </a:p>
          <a:p>
            <a:pPr marL="0" indent="0" algn="ctr">
              <a:lnSpc>
                <a:spcPct val="115000"/>
              </a:lnSpc>
              <a:buNone/>
            </a:pPr>
            <a:r>
              <a:rPr lang="en-US" sz="1050" dirty="0">
                <a:solidFill>
                  <a:srgbClr val="CADCFC"/>
                </a:solidFill>
                <a:latin typeface="Calibri" pitchFamily="34" charset="0"/>
                <a:ea typeface="Calibri" pitchFamily="34" charset="-122"/>
                <a:cs typeface="Calibri" pitchFamily="34" charset="-120"/>
              </a:rPr>
              <a:t>anonymization or secure computation</a:t>
            </a:r>
            <a:endParaRPr lang="en-US" sz="1050" dirty="0"/>
          </a:p>
        </p:txBody>
      </p:sp>
      <p:sp>
        <p:nvSpPr>
          <p:cNvPr id="13" name="Text 10"/>
          <p:cNvSpPr/>
          <p:nvPr/>
        </p:nvSpPr>
        <p:spPr>
          <a:xfrm>
            <a:off x="5596128" y="2743200"/>
            <a:ext cx="384048" cy="457200"/>
          </a:xfrm>
          <a:prstGeom prst="rect">
            <a:avLst/>
          </a:prstGeom>
          <a:noFill/>
          <a:ln/>
        </p:spPr>
        <p:txBody>
          <a:bodyPr wrap="square" rtlCol="0" anchor="ctr"/>
          <a:lstStyle/>
          <a:p>
            <a:pPr marL="0" indent="0" algn="ctr">
              <a:buNone/>
            </a:pPr>
            <a:r>
              <a:rPr lang="en-US" sz="2200" b="1" dirty="0">
                <a:solidFill>
                  <a:srgbClr val="02C39A"/>
                </a:solidFill>
              </a:rPr>
              <a:t>→</a:t>
            </a:r>
            <a:endParaRPr lang="en-US" sz="2200" dirty="0"/>
          </a:p>
        </p:txBody>
      </p:sp>
      <p:sp>
        <p:nvSpPr>
          <p:cNvPr id="14" name="Shape 11"/>
          <p:cNvSpPr/>
          <p:nvPr/>
        </p:nvSpPr>
        <p:spPr>
          <a:xfrm>
            <a:off x="5980176" y="2286000"/>
            <a:ext cx="2331720" cy="1371600"/>
          </a:xfrm>
          <a:prstGeom prst="roundRect">
            <a:avLst>
              <a:gd name="adj" fmla="val 5333"/>
            </a:avLst>
          </a:prstGeom>
          <a:solidFill>
            <a:srgbClr val="FFFFFF"/>
          </a:solidFill>
          <a:ln w="12700">
            <a:solidFill>
              <a:srgbClr val="CADCFC"/>
            </a:solidFill>
            <a:prstDash val="solid"/>
          </a:ln>
          <a:effectLst>
            <a:outerShdw blurRad="76200" dist="25400" dir="5400000" algn="bl" rotWithShape="0">
              <a:srgbClr val="1B1F3B">
                <a:alpha val="10000"/>
              </a:srgbClr>
            </a:outerShdw>
          </a:effectLst>
        </p:spPr>
      </p:sp>
      <p:sp>
        <p:nvSpPr>
          <p:cNvPr id="15" name="Text 12"/>
          <p:cNvSpPr/>
          <p:nvPr/>
        </p:nvSpPr>
        <p:spPr>
          <a:xfrm>
            <a:off x="6117336" y="2423160"/>
            <a:ext cx="2057400" cy="457200"/>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Protected Output</a:t>
            </a:r>
            <a:endParaRPr lang="en-US" sz="1300" dirty="0"/>
          </a:p>
        </p:txBody>
      </p:sp>
      <p:sp>
        <p:nvSpPr>
          <p:cNvPr id="16" name="Text 13"/>
          <p:cNvSpPr/>
          <p:nvPr/>
        </p:nvSpPr>
        <p:spPr>
          <a:xfrm>
            <a:off x="6117336" y="2852928"/>
            <a:ext cx="2057400" cy="731520"/>
          </a:xfrm>
          <a:prstGeom prst="rect">
            <a:avLst/>
          </a:prstGeom>
          <a:noFill/>
          <a:ln/>
        </p:spPr>
        <p:txBody>
          <a:bodyPr wrap="square" rtlCol="0" anchor="ctr"/>
          <a:lstStyle/>
          <a:p>
            <a:pPr marL="0" indent="0" algn="ctr">
              <a:lnSpc>
                <a:spcPct val="115000"/>
              </a:lnSpc>
              <a:buNone/>
            </a:pPr>
            <a:r>
              <a:rPr lang="en-US" sz="1050" dirty="0">
                <a:solidFill>
                  <a:srgbClr val="5B6178"/>
                </a:solidFill>
                <a:latin typeface="Calibri" pitchFamily="34" charset="0"/>
                <a:ea typeface="Calibri" pitchFamily="34" charset="-122"/>
                <a:cs typeface="Calibri" pitchFamily="34" charset="-120"/>
              </a:rPr>
              <a:t>Insights, models or shared data</a:t>
            </a:r>
            <a:endParaRPr lang="en-US" sz="1050" dirty="0"/>
          </a:p>
          <a:p>
            <a:pPr marL="0" indent="0" algn="ctr">
              <a:lnSpc>
                <a:spcPct val="115000"/>
              </a:lnSpc>
              <a:buNone/>
            </a:pPr>
            <a:r>
              <a:rPr lang="en-US" sz="1050" dirty="0">
                <a:solidFill>
                  <a:srgbClr val="5B6178"/>
                </a:solidFill>
                <a:latin typeface="Calibri" pitchFamily="34" charset="0"/>
                <a:ea typeface="Calibri" pitchFamily="34" charset="-122"/>
                <a:cs typeface="Calibri" pitchFamily="34" charset="-120"/>
              </a:rPr>
              <a:t>with identity/content shielded</a:t>
            </a:r>
            <a:endParaRPr lang="en-US" sz="1050" dirty="0"/>
          </a:p>
        </p:txBody>
      </p:sp>
      <p:sp>
        <p:nvSpPr>
          <p:cNvPr id="17" name="Text 14"/>
          <p:cNvSpPr/>
          <p:nvPr/>
        </p:nvSpPr>
        <p:spPr>
          <a:xfrm>
            <a:off x="8311896" y="2743200"/>
            <a:ext cx="384048" cy="457200"/>
          </a:xfrm>
          <a:prstGeom prst="rect">
            <a:avLst/>
          </a:prstGeom>
          <a:noFill/>
          <a:ln/>
        </p:spPr>
        <p:txBody>
          <a:bodyPr wrap="square" rtlCol="0" anchor="ctr"/>
          <a:lstStyle/>
          <a:p>
            <a:pPr marL="0" indent="0" algn="ctr">
              <a:buNone/>
            </a:pPr>
            <a:r>
              <a:rPr lang="en-US" sz="2200" b="1" dirty="0">
                <a:solidFill>
                  <a:srgbClr val="02C39A"/>
                </a:solidFill>
              </a:rPr>
              <a:t>→</a:t>
            </a:r>
            <a:endParaRPr lang="en-US" sz="2200" dirty="0"/>
          </a:p>
        </p:txBody>
      </p:sp>
      <p:sp>
        <p:nvSpPr>
          <p:cNvPr id="18" name="Shape 15"/>
          <p:cNvSpPr/>
          <p:nvPr/>
        </p:nvSpPr>
        <p:spPr>
          <a:xfrm>
            <a:off x="8695944" y="2286000"/>
            <a:ext cx="2331720" cy="1371600"/>
          </a:xfrm>
          <a:prstGeom prst="roundRect">
            <a:avLst>
              <a:gd name="adj" fmla="val 5333"/>
            </a:avLst>
          </a:prstGeom>
          <a:solidFill>
            <a:srgbClr val="FFFFFF"/>
          </a:solidFill>
          <a:ln w="12700">
            <a:solidFill>
              <a:srgbClr val="CADCFC"/>
            </a:solidFill>
            <a:prstDash val="solid"/>
          </a:ln>
          <a:effectLst>
            <a:outerShdw blurRad="76200" dist="25400" dir="5400000" algn="bl" rotWithShape="0">
              <a:srgbClr val="1B1F3B">
                <a:alpha val="10000"/>
              </a:srgbClr>
            </a:outerShdw>
          </a:effectLst>
        </p:spPr>
      </p:sp>
      <p:sp>
        <p:nvSpPr>
          <p:cNvPr id="19" name="Text 16"/>
          <p:cNvSpPr/>
          <p:nvPr/>
        </p:nvSpPr>
        <p:spPr>
          <a:xfrm>
            <a:off x="8833104" y="2423160"/>
            <a:ext cx="2057400" cy="457200"/>
          </a:xfrm>
          <a:prstGeom prst="rect">
            <a:avLst/>
          </a:prstGeom>
          <a:noFill/>
          <a:ln/>
        </p:spPr>
        <p:txBody>
          <a:bodyPr wrap="square" rtlCol="0" anchor="ctr"/>
          <a:lstStyle/>
          <a:p>
            <a:pPr marL="0" indent="0" algn="ctr">
              <a:buNone/>
            </a:pPr>
            <a:r>
              <a:rPr lang="en-US" sz="1300" b="1" dirty="0">
                <a:solidFill>
                  <a:srgbClr val="1E2761"/>
                </a:solidFill>
                <a:latin typeface="Cambria" pitchFamily="34" charset="0"/>
                <a:ea typeface="Cambria" pitchFamily="34" charset="-122"/>
                <a:cs typeface="Cambria" pitchFamily="34" charset="-120"/>
              </a:rPr>
              <a:t>Consumer</a:t>
            </a:r>
            <a:endParaRPr lang="en-US" sz="1300" dirty="0"/>
          </a:p>
        </p:txBody>
      </p:sp>
      <p:sp>
        <p:nvSpPr>
          <p:cNvPr id="20" name="Text 17"/>
          <p:cNvSpPr/>
          <p:nvPr/>
        </p:nvSpPr>
        <p:spPr>
          <a:xfrm>
            <a:off x="8833104" y="2852928"/>
            <a:ext cx="2057400" cy="731520"/>
          </a:xfrm>
          <a:prstGeom prst="rect">
            <a:avLst/>
          </a:prstGeom>
          <a:noFill/>
          <a:ln/>
        </p:spPr>
        <p:txBody>
          <a:bodyPr wrap="square" rtlCol="0" anchor="ctr"/>
          <a:lstStyle/>
          <a:p>
            <a:pPr marL="0" indent="0" algn="ctr">
              <a:lnSpc>
                <a:spcPct val="115000"/>
              </a:lnSpc>
              <a:buNone/>
            </a:pPr>
            <a:r>
              <a:rPr lang="en-US" sz="1050" dirty="0">
                <a:solidFill>
                  <a:srgbClr val="5B6178"/>
                </a:solidFill>
                <a:latin typeface="Calibri" pitchFamily="34" charset="0"/>
                <a:ea typeface="Calibri" pitchFamily="34" charset="-122"/>
                <a:cs typeface="Calibri" pitchFamily="34" charset="-120"/>
              </a:rPr>
              <a:t>Analysts, ML models, or</a:t>
            </a:r>
            <a:endParaRPr lang="en-US" sz="1050" dirty="0"/>
          </a:p>
          <a:p>
            <a:pPr marL="0" indent="0" algn="ctr">
              <a:lnSpc>
                <a:spcPct val="115000"/>
              </a:lnSpc>
              <a:buNone/>
            </a:pPr>
            <a:r>
              <a:rPr lang="en-US" sz="1050" dirty="0">
                <a:solidFill>
                  <a:srgbClr val="5B6178"/>
                </a:solidFill>
                <a:latin typeface="Calibri" pitchFamily="34" charset="0"/>
                <a:ea typeface="Calibri" pitchFamily="34" charset="-122"/>
                <a:cs typeface="Calibri" pitchFamily="34" charset="-120"/>
              </a:rPr>
              <a:t>partner organizations</a:t>
            </a:r>
            <a:endParaRPr lang="en-US" sz="1050" dirty="0"/>
          </a:p>
        </p:txBody>
      </p:sp>
      <p:sp>
        <p:nvSpPr>
          <p:cNvPr id="21" name="Text 18"/>
          <p:cNvSpPr/>
          <p:nvPr/>
        </p:nvSpPr>
        <p:spPr>
          <a:xfrm>
            <a:off x="548640" y="4069080"/>
            <a:ext cx="10424160" cy="1005840"/>
          </a:xfrm>
          <a:prstGeom prst="rect">
            <a:avLst/>
          </a:prstGeom>
          <a:noFill/>
          <a:ln/>
        </p:spPr>
        <p:txBody>
          <a:bodyPr wrap="square" rtlCol="0" anchor="ctr"/>
          <a:lstStyle/>
          <a:p>
            <a:pPr marL="0" indent="0">
              <a:lnSpc>
                <a:spcPct val="130000"/>
              </a:lnSpc>
              <a:buNone/>
            </a:pPr>
            <a:r>
              <a:rPr lang="en-US" sz="1400" dirty="0">
                <a:solidFill>
                  <a:srgbClr val="1B1F3B"/>
                </a:solidFill>
                <a:latin typeface="Calibri" pitchFamily="34" charset="0"/>
                <a:ea typeface="Calibri" pitchFamily="34" charset="-122"/>
                <a:cs typeface="Calibri" pitchFamily="34" charset="-120"/>
              </a:rPr>
              <a:t>The core principle: sensitive data is never exposed in usable raw form to any untrusted party. Whether through mathematical noise, cryptography, or decentralization, the PET layer sits between raw data and its consumers — preserving statistical or functional value while removing identifiability.</a:t>
            </a:r>
            <a:endParaRPr lang="en-US" sz="1400" dirty="0"/>
          </a:p>
        </p:txBody>
      </p:sp>
      <p:sp>
        <p:nvSpPr>
          <p:cNvPr id="22" name="Shape 19"/>
          <p:cNvSpPr/>
          <p:nvPr/>
        </p:nvSpPr>
        <p:spPr>
          <a:xfrm>
            <a:off x="548640" y="5257800"/>
            <a:ext cx="10424160" cy="960120"/>
          </a:xfrm>
          <a:prstGeom prst="roundRect">
            <a:avLst>
              <a:gd name="adj" fmla="val 7619"/>
            </a:avLst>
          </a:prstGeom>
          <a:solidFill>
            <a:srgbClr val="EAF2FF"/>
          </a:solidFill>
          <a:ln/>
        </p:spPr>
      </p:sp>
      <p:sp>
        <p:nvSpPr>
          <p:cNvPr id="23" name="Text 20"/>
          <p:cNvSpPr/>
          <p:nvPr/>
        </p:nvSpPr>
        <p:spPr>
          <a:xfrm>
            <a:off x="822960" y="5257800"/>
            <a:ext cx="9875520" cy="960120"/>
          </a:xfrm>
          <a:prstGeom prst="rect">
            <a:avLst/>
          </a:prstGeom>
          <a:noFill/>
          <a:ln/>
        </p:spPr>
        <p:txBody>
          <a:bodyPr wrap="square" rtlCol="0" anchor="ctr"/>
          <a:lstStyle/>
          <a:p>
            <a:pPr marL="0" indent="0">
              <a:buNone/>
            </a:pPr>
            <a:r>
              <a:rPr lang="en-US" sz="1350" b="1" i="1" dirty="0">
                <a:solidFill>
                  <a:srgbClr val="1E2761"/>
                </a:solidFill>
                <a:latin typeface="Calibri" pitchFamily="34" charset="0"/>
                <a:ea typeface="Calibri" pitchFamily="34" charset="-122"/>
                <a:cs typeface="Calibri" pitchFamily="34" charset="-120"/>
              </a:rPr>
              <a:t>Key rule: security and utility are engineered together — not traded off as an afterthought.</a:t>
            </a:r>
            <a:endParaRPr lang="en-US" sz="1350" dirty="0"/>
          </a:p>
        </p:txBody>
      </p:sp>
      <p:sp>
        <p:nvSpPr>
          <p:cNvPr id="24" name="Text 21"/>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04  ·  KEY COMPONENTS</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Key Components and Technologies</a:t>
            </a:r>
            <a:endParaRPr lang="en-US" sz="3000" dirty="0"/>
          </a:p>
        </p:txBody>
      </p:sp>
      <p:sp>
        <p:nvSpPr>
          <p:cNvPr id="4" name="Shape 2"/>
          <p:cNvSpPr/>
          <p:nvPr/>
        </p:nvSpPr>
        <p:spPr>
          <a:xfrm>
            <a:off x="9692640" y="502920"/>
            <a:ext cx="1371600" cy="1371600"/>
          </a:xfrm>
          <a:prstGeom prst="ellipse">
            <a:avLst/>
          </a:prstGeom>
          <a:solidFill>
            <a:srgbClr val="02C39A"/>
          </a:solidFill>
          <a:ln/>
        </p:spPr>
      </p:sp>
      <p:pic>
        <p:nvPicPr>
          <p:cNvPr id="5" name="Image 0" descr="/home/claude/pet_ppt/components.png"/>
          <p:cNvPicPr>
            <a:picLocks noChangeAspect="1"/>
          </p:cNvPicPr>
          <p:nvPr/>
        </p:nvPicPr>
        <p:blipFill>
          <a:blip r:embed="rId3"/>
          <a:stretch>
            <a:fillRect/>
          </a:stretch>
        </p:blipFill>
        <p:spPr>
          <a:xfrm>
            <a:off x="9870948" y="681228"/>
            <a:ext cx="1014984" cy="1014984"/>
          </a:xfrm>
          <a:prstGeom prst="rect">
            <a:avLst/>
          </a:prstGeom>
        </p:spPr>
      </p:pic>
      <p:sp>
        <p:nvSpPr>
          <p:cNvPr id="6" name="Shape 3"/>
          <p:cNvSpPr/>
          <p:nvPr/>
        </p:nvSpPr>
        <p:spPr>
          <a:xfrm>
            <a:off x="548640" y="1691640"/>
            <a:ext cx="3401568" cy="1417320"/>
          </a:xfrm>
          <a:prstGeom prst="roundRect">
            <a:avLst>
              <a:gd name="adj" fmla="val 5161"/>
            </a:avLst>
          </a:prstGeom>
          <a:solidFill>
            <a:srgbClr val="FFFFFF"/>
          </a:solidFill>
          <a:ln/>
          <a:effectLst>
            <a:outerShdw blurRad="88900" dist="25400" dir="5400000" algn="bl" rotWithShape="0">
              <a:srgbClr val="1B1F3B">
                <a:alpha val="12000"/>
              </a:srgbClr>
            </a:outerShdw>
          </a:effectLst>
        </p:spPr>
      </p:sp>
      <p:sp>
        <p:nvSpPr>
          <p:cNvPr id="7" name="Shape 4"/>
          <p:cNvSpPr/>
          <p:nvPr/>
        </p:nvSpPr>
        <p:spPr>
          <a:xfrm>
            <a:off x="749808" y="1874520"/>
            <a:ext cx="128016" cy="457200"/>
          </a:xfrm>
          <a:prstGeom prst="roundRect">
            <a:avLst/>
          </a:prstGeom>
          <a:solidFill>
            <a:srgbClr val="02C39A"/>
          </a:solidFill>
          <a:ln/>
        </p:spPr>
      </p:sp>
      <p:sp>
        <p:nvSpPr>
          <p:cNvPr id="8" name="Text 5"/>
          <p:cNvSpPr/>
          <p:nvPr/>
        </p:nvSpPr>
        <p:spPr>
          <a:xfrm>
            <a:off x="1005840" y="1837944"/>
            <a:ext cx="2761488" cy="502920"/>
          </a:xfrm>
          <a:prstGeom prst="rect">
            <a:avLst/>
          </a:prstGeom>
          <a:noFill/>
          <a:ln/>
        </p:spPr>
        <p:txBody>
          <a:bodyPr wrap="square" rtlCol="0" anchor="t"/>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Differential Privacy</a:t>
            </a:r>
            <a:endParaRPr lang="en-US" sz="1300" dirty="0"/>
          </a:p>
        </p:txBody>
      </p:sp>
      <p:sp>
        <p:nvSpPr>
          <p:cNvPr id="9" name="Text 6"/>
          <p:cNvSpPr/>
          <p:nvPr/>
        </p:nvSpPr>
        <p:spPr>
          <a:xfrm>
            <a:off x="1005840" y="2313432"/>
            <a:ext cx="2761488" cy="731520"/>
          </a:xfrm>
          <a:prstGeom prst="rect">
            <a:avLst/>
          </a:prstGeom>
          <a:noFill/>
          <a:ln/>
        </p:spPr>
        <p:txBody>
          <a:bodyPr wrap="square" rtlCol="0" anchor="ctr"/>
          <a:lstStyle/>
          <a:p>
            <a:pPr marL="0" indent="0">
              <a:lnSpc>
                <a:spcPct val="120000"/>
              </a:lnSpc>
              <a:buNone/>
            </a:pPr>
            <a:r>
              <a:rPr lang="en-US" sz="1080" dirty="0">
                <a:solidFill>
                  <a:srgbClr val="5B6178"/>
                </a:solidFill>
                <a:latin typeface="Calibri" pitchFamily="34" charset="0"/>
                <a:ea typeface="Calibri" pitchFamily="34" charset="-122"/>
                <a:cs typeface="Calibri" pitchFamily="34" charset="-120"/>
              </a:rPr>
              <a:t>Injects calibrated statistical noise so no single record can be identified from an output.</a:t>
            </a:r>
            <a:endParaRPr lang="en-US" sz="1080" dirty="0"/>
          </a:p>
        </p:txBody>
      </p:sp>
      <p:sp>
        <p:nvSpPr>
          <p:cNvPr id="10" name="Shape 7"/>
          <p:cNvSpPr/>
          <p:nvPr/>
        </p:nvSpPr>
        <p:spPr>
          <a:xfrm>
            <a:off x="4169664" y="1691640"/>
            <a:ext cx="3401568" cy="1417320"/>
          </a:xfrm>
          <a:prstGeom prst="roundRect">
            <a:avLst>
              <a:gd name="adj" fmla="val 5161"/>
            </a:avLst>
          </a:prstGeom>
          <a:solidFill>
            <a:srgbClr val="FFFFFF"/>
          </a:solidFill>
          <a:ln/>
          <a:effectLst>
            <a:outerShdw blurRad="88900" dist="25400" dir="5400000" algn="bl" rotWithShape="0">
              <a:srgbClr val="1B1F3B">
                <a:alpha val="12000"/>
              </a:srgbClr>
            </a:outerShdw>
          </a:effectLst>
        </p:spPr>
      </p:sp>
      <p:sp>
        <p:nvSpPr>
          <p:cNvPr id="11" name="Shape 8"/>
          <p:cNvSpPr/>
          <p:nvPr/>
        </p:nvSpPr>
        <p:spPr>
          <a:xfrm>
            <a:off x="4370832" y="1874520"/>
            <a:ext cx="128016" cy="457200"/>
          </a:xfrm>
          <a:prstGeom prst="roundRect">
            <a:avLst/>
          </a:prstGeom>
          <a:solidFill>
            <a:srgbClr val="02C39A"/>
          </a:solidFill>
          <a:ln/>
        </p:spPr>
      </p:sp>
      <p:sp>
        <p:nvSpPr>
          <p:cNvPr id="12" name="Text 9"/>
          <p:cNvSpPr/>
          <p:nvPr/>
        </p:nvSpPr>
        <p:spPr>
          <a:xfrm>
            <a:off x="4626864" y="1837944"/>
            <a:ext cx="2761488" cy="502920"/>
          </a:xfrm>
          <a:prstGeom prst="rect">
            <a:avLst/>
          </a:prstGeom>
          <a:noFill/>
          <a:ln/>
        </p:spPr>
        <p:txBody>
          <a:bodyPr wrap="square" rtlCol="0" anchor="t"/>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Homomorphic Encryption</a:t>
            </a:r>
            <a:endParaRPr lang="en-US" sz="1300" dirty="0"/>
          </a:p>
        </p:txBody>
      </p:sp>
      <p:sp>
        <p:nvSpPr>
          <p:cNvPr id="13" name="Text 10"/>
          <p:cNvSpPr/>
          <p:nvPr/>
        </p:nvSpPr>
        <p:spPr>
          <a:xfrm>
            <a:off x="4626864" y="2313432"/>
            <a:ext cx="2761488" cy="731520"/>
          </a:xfrm>
          <a:prstGeom prst="rect">
            <a:avLst/>
          </a:prstGeom>
          <a:noFill/>
          <a:ln/>
        </p:spPr>
        <p:txBody>
          <a:bodyPr wrap="square" rtlCol="0" anchor="ctr"/>
          <a:lstStyle/>
          <a:p>
            <a:pPr marL="0" indent="0">
              <a:lnSpc>
                <a:spcPct val="120000"/>
              </a:lnSpc>
              <a:buNone/>
            </a:pPr>
            <a:r>
              <a:rPr lang="en-US" sz="1080" dirty="0">
                <a:solidFill>
                  <a:srgbClr val="5B6178"/>
                </a:solidFill>
                <a:latin typeface="Calibri" pitchFamily="34" charset="0"/>
                <a:ea typeface="Calibri" pitchFamily="34" charset="-122"/>
                <a:cs typeface="Calibri" pitchFamily="34" charset="-120"/>
              </a:rPr>
              <a:t>Allows computation directly on encrypted data without ever decrypting it.</a:t>
            </a:r>
            <a:endParaRPr lang="en-US" sz="1080" dirty="0"/>
          </a:p>
        </p:txBody>
      </p:sp>
      <p:sp>
        <p:nvSpPr>
          <p:cNvPr id="14" name="Shape 11"/>
          <p:cNvSpPr/>
          <p:nvPr/>
        </p:nvSpPr>
        <p:spPr>
          <a:xfrm>
            <a:off x="7790688" y="1691640"/>
            <a:ext cx="3401568" cy="1417320"/>
          </a:xfrm>
          <a:prstGeom prst="roundRect">
            <a:avLst>
              <a:gd name="adj" fmla="val 5161"/>
            </a:avLst>
          </a:prstGeom>
          <a:solidFill>
            <a:srgbClr val="FFFFFF"/>
          </a:solidFill>
          <a:ln/>
          <a:effectLst>
            <a:outerShdw blurRad="88900" dist="25400" dir="5400000" algn="bl" rotWithShape="0">
              <a:srgbClr val="1B1F3B">
                <a:alpha val="12000"/>
              </a:srgbClr>
            </a:outerShdw>
          </a:effectLst>
        </p:spPr>
      </p:sp>
      <p:sp>
        <p:nvSpPr>
          <p:cNvPr id="15" name="Shape 12"/>
          <p:cNvSpPr/>
          <p:nvPr/>
        </p:nvSpPr>
        <p:spPr>
          <a:xfrm>
            <a:off x="7991856" y="1874520"/>
            <a:ext cx="128016" cy="457200"/>
          </a:xfrm>
          <a:prstGeom prst="roundRect">
            <a:avLst/>
          </a:prstGeom>
          <a:solidFill>
            <a:srgbClr val="02C39A"/>
          </a:solidFill>
          <a:ln/>
        </p:spPr>
      </p:sp>
      <p:sp>
        <p:nvSpPr>
          <p:cNvPr id="16" name="Text 13"/>
          <p:cNvSpPr/>
          <p:nvPr/>
        </p:nvSpPr>
        <p:spPr>
          <a:xfrm>
            <a:off x="8247888" y="1837944"/>
            <a:ext cx="2761488" cy="502920"/>
          </a:xfrm>
          <a:prstGeom prst="rect">
            <a:avLst/>
          </a:prstGeom>
          <a:noFill/>
          <a:ln/>
        </p:spPr>
        <p:txBody>
          <a:bodyPr wrap="square" rtlCol="0" anchor="t"/>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Federated Learning</a:t>
            </a:r>
            <a:endParaRPr lang="en-US" sz="1300" dirty="0"/>
          </a:p>
        </p:txBody>
      </p:sp>
      <p:sp>
        <p:nvSpPr>
          <p:cNvPr id="17" name="Text 14"/>
          <p:cNvSpPr/>
          <p:nvPr/>
        </p:nvSpPr>
        <p:spPr>
          <a:xfrm>
            <a:off x="8247888" y="2313432"/>
            <a:ext cx="2761488" cy="731520"/>
          </a:xfrm>
          <a:prstGeom prst="rect">
            <a:avLst/>
          </a:prstGeom>
          <a:noFill/>
          <a:ln/>
        </p:spPr>
        <p:txBody>
          <a:bodyPr wrap="square" rtlCol="0" anchor="ctr"/>
          <a:lstStyle/>
          <a:p>
            <a:pPr marL="0" indent="0">
              <a:lnSpc>
                <a:spcPct val="120000"/>
              </a:lnSpc>
              <a:buNone/>
            </a:pPr>
            <a:r>
              <a:rPr lang="en-US" sz="1080" dirty="0">
                <a:solidFill>
                  <a:srgbClr val="5B6178"/>
                </a:solidFill>
                <a:latin typeface="Calibri" pitchFamily="34" charset="0"/>
                <a:ea typeface="Calibri" pitchFamily="34" charset="-122"/>
                <a:cs typeface="Calibri" pitchFamily="34" charset="-120"/>
              </a:rPr>
              <a:t>Trains AI models across many devices/servers without centralizing raw data.</a:t>
            </a:r>
            <a:endParaRPr lang="en-US" sz="1080" dirty="0"/>
          </a:p>
        </p:txBody>
      </p:sp>
      <p:sp>
        <p:nvSpPr>
          <p:cNvPr id="18" name="Shape 15"/>
          <p:cNvSpPr/>
          <p:nvPr/>
        </p:nvSpPr>
        <p:spPr>
          <a:xfrm>
            <a:off x="548640" y="3291840"/>
            <a:ext cx="3401568" cy="1417320"/>
          </a:xfrm>
          <a:prstGeom prst="roundRect">
            <a:avLst>
              <a:gd name="adj" fmla="val 5161"/>
            </a:avLst>
          </a:prstGeom>
          <a:solidFill>
            <a:srgbClr val="FFFFFF"/>
          </a:solidFill>
          <a:ln/>
          <a:effectLst>
            <a:outerShdw blurRad="88900" dist="25400" dir="5400000" algn="bl" rotWithShape="0">
              <a:srgbClr val="1B1F3B">
                <a:alpha val="12000"/>
              </a:srgbClr>
            </a:outerShdw>
          </a:effectLst>
        </p:spPr>
      </p:sp>
      <p:sp>
        <p:nvSpPr>
          <p:cNvPr id="19" name="Shape 16"/>
          <p:cNvSpPr/>
          <p:nvPr/>
        </p:nvSpPr>
        <p:spPr>
          <a:xfrm>
            <a:off x="749808" y="3474720"/>
            <a:ext cx="128016" cy="457200"/>
          </a:xfrm>
          <a:prstGeom prst="roundRect">
            <a:avLst/>
          </a:prstGeom>
          <a:solidFill>
            <a:srgbClr val="02C39A"/>
          </a:solidFill>
          <a:ln/>
        </p:spPr>
      </p:sp>
      <p:sp>
        <p:nvSpPr>
          <p:cNvPr id="20" name="Text 17"/>
          <p:cNvSpPr/>
          <p:nvPr/>
        </p:nvSpPr>
        <p:spPr>
          <a:xfrm>
            <a:off x="1005840" y="3438144"/>
            <a:ext cx="2761488" cy="502920"/>
          </a:xfrm>
          <a:prstGeom prst="rect">
            <a:avLst/>
          </a:prstGeom>
          <a:noFill/>
          <a:ln/>
        </p:spPr>
        <p:txBody>
          <a:bodyPr wrap="square" rtlCol="0" anchor="t"/>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Secure Multi-Party Computation</a:t>
            </a:r>
            <a:endParaRPr lang="en-US" sz="1300" dirty="0"/>
          </a:p>
        </p:txBody>
      </p:sp>
      <p:sp>
        <p:nvSpPr>
          <p:cNvPr id="21" name="Text 18"/>
          <p:cNvSpPr/>
          <p:nvPr/>
        </p:nvSpPr>
        <p:spPr>
          <a:xfrm>
            <a:off x="1005840" y="3913632"/>
            <a:ext cx="2761488" cy="731520"/>
          </a:xfrm>
          <a:prstGeom prst="rect">
            <a:avLst/>
          </a:prstGeom>
          <a:noFill/>
          <a:ln/>
        </p:spPr>
        <p:txBody>
          <a:bodyPr wrap="square" rtlCol="0" anchor="ctr"/>
          <a:lstStyle/>
          <a:p>
            <a:pPr marL="0" indent="0">
              <a:lnSpc>
                <a:spcPct val="120000"/>
              </a:lnSpc>
              <a:buNone/>
            </a:pPr>
            <a:r>
              <a:rPr lang="en-US" sz="1080" dirty="0">
                <a:solidFill>
                  <a:srgbClr val="5B6178"/>
                </a:solidFill>
                <a:latin typeface="Calibri" pitchFamily="34" charset="0"/>
                <a:ea typeface="Calibri" pitchFamily="34" charset="-122"/>
                <a:cs typeface="Calibri" pitchFamily="34" charset="-120"/>
              </a:rPr>
              <a:t>Multiple parties jointly compute a result while keeping their own inputs private.</a:t>
            </a:r>
            <a:endParaRPr lang="en-US" sz="1080" dirty="0"/>
          </a:p>
        </p:txBody>
      </p:sp>
      <p:sp>
        <p:nvSpPr>
          <p:cNvPr id="22" name="Shape 19"/>
          <p:cNvSpPr/>
          <p:nvPr/>
        </p:nvSpPr>
        <p:spPr>
          <a:xfrm>
            <a:off x="4169664" y="3291840"/>
            <a:ext cx="3401568" cy="1417320"/>
          </a:xfrm>
          <a:prstGeom prst="roundRect">
            <a:avLst>
              <a:gd name="adj" fmla="val 5161"/>
            </a:avLst>
          </a:prstGeom>
          <a:solidFill>
            <a:srgbClr val="FFFFFF"/>
          </a:solidFill>
          <a:ln/>
          <a:effectLst>
            <a:outerShdw blurRad="88900" dist="25400" dir="5400000" algn="bl" rotWithShape="0">
              <a:srgbClr val="1B1F3B">
                <a:alpha val="12000"/>
              </a:srgbClr>
            </a:outerShdw>
          </a:effectLst>
        </p:spPr>
      </p:sp>
      <p:sp>
        <p:nvSpPr>
          <p:cNvPr id="23" name="Shape 20"/>
          <p:cNvSpPr/>
          <p:nvPr/>
        </p:nvSpPr>
        <p:spPr>
          <a:xfrm>
            <a:off x="4370832" y="3474720"/>
            <a:ext cx="128016" cy="457200"/>
          </a:xfrm>
          <a:prstGeom prst="roundRect">
            <a:avLst/>
          </a:prstGeom>
          <a:solidFill>
            <a:srgbClr val="02C39A"/>
          </a:solidFill>
          <a:ln/>
        </p:spPr>
      </p:sp>
      <p:sp>
        <p:nvSpPr>
          <p:cNvPr id="24" name="Text 21"/>
          <p:cNvSpPr/>
          <p:nvPr/>
        </p:nvSpPr>
        <p:spPr>
          <a:xfrm>
            <a:off x="4626864" y="3438144"/>
            <a:ext cx="2761488" cy="502920"/>
          </a:xfrm>
          <a:prstGeom prst="rect">
            <a:avLst/>
          </a:prstGeom>
          <a:noFill/>
          <a:ln/>
        </p:spPr>
        <p:txBody>
          <a:bodyPr wrap="square" rtlCol="0" anchor="t"/>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Zero-Knowledge Proofs</a:t>
            </a:r>
            <a:endParaRPr lang="en-US" sz="1300" dirty="0"/>
          </a:p>
        </p:txBody>
      </p:sp>
      <p:sp>
        <p:nvSpPr>
          <p:cNvPr id="25" name="Text 22"/>
          <p:cNvSpPr/>
          <p:nvPr/>
        </p:nvSpPr>
        <p:spPr>
          <a:xfrm>
            <a:off x="4626864" y="3913632"/>
            <a:ext cx="2761488" cy="731520"/>
          </a:xfrm>
          <a:prstGeom prst="rect">
            <a:avLst/>
          </a:prstGeom>
          <a:noFill/>
          <a:ln/>
        </p:spPr>
        <p:txBody>
          <a:bodyPr wrap="square" rtlCol="0" anchor="ctr"/>
          <a:lstStyle/>
          <a:p>
            <a:pPr marL="0" indent="0">
              <a:lnSpc>
                <a:spcPct val="120000"/>
              </a:lnSpc>
              <a:buNone/>
            </a:pPr>
            <a:r>
              <a:rPr lang="en-US" sz="1080" dirty="0">
                <a:solidFill>
                  <a:srgbClr val="5B6178"/>
                </a:solidFill>
                <a:latin typeface="Calibri" pitchFamily="34" charset="0"/>
                <a:ea typeface="Calibri" pitchFamily="34" charset="-122"/>
                <a:cs typeface="Calibri" pitchFamily="34" charset="-120"/>
              </a:rPr>
              <a:t>Proves a statement is true without revealing the underlying data itself.</a:t>
            </a:r>
            <a:endParaRPr lang="en-US" sz="1080" dirty="0"/>
          </a:p>
        </p:txBody>
      </p:sp>
      <p:sp>
        <p:nvSpPr>
          <p:cNvPr id="26" name="Shape 23"/>
          <p:cNvSpPr/>
          <p:nvPr/>
        </p:nvSpPr>
        <p:spPr>
          <a:xfrm>
            <a:off x="7790688" y="3291840"/>
            <a:ext cx="3401568" cy="1417320"/>
          </a:xfrm>
          <a:prstGeom prst="roundRect">
            <a:avLst>
              <a:gd name="adj" fmla="val 5161"/>
            </a:avLst>
          </a:prstGeom>
          <a:solidFill>
            <a:srgbClr val="FFFFFF"/>
          </a:solidFill>
          <a:ln/>
          <a:effectLst>
            <a:outerShdw blurRad="88900" dist="25400" dir="5400000" algn="bl" rotWithShape="0">
              <a:srgbClr val="1B1F3B">
                <a:alpha val="12000"/>
              </a:srgbClr>
            </a:outerShdw>
          </a:effectLst>
        </p:spPr>
      </p:sp>
      <p:sp>
        <p:nvSpPr>
          <p:cNvPr id="27" name="Shape 24"/>
          <p:cNvSpPr/>
          <p:nvPr/>
        </p:nvSpPr>
        <p:spPr>
          <a:xfrm>
            <a:off x="7991856" y="3474720"/>
            <a:ext cx="128016" cy="457200"/>
          </a:xfrm>
          <a:prstGeom prst="roundRect">
            <a:avLst/>
          </a:prstGeom>
          <a:solidFill>
            <a:srgbClr val="02C39A"/>
          </a:solidFill>
          <a:ln/>
        </p:spPr>
      </p:sp>
      <p:sp>
        <p:nvSpPr>
          <p:cNvPr id="28" name="Text 25"/>
          <p:cNvSpPr/>
          <p:nvPr/>
        </p:nvSpPr>
        <p:spPr>
          <a:xfrm>
            <a:off x="8247888" y="3438144"/>
            <a:ext cx="2761488" cy="502920"/>
          </a:xfrm>
          <a:prstGeom prst="rect">
            <a:avLst/>
          </a:prstGeom>
          <a:noFill/>
          <a:ln/>
        </p:spPr>
        <p:txBody>
          <a:bodyPr wrap="square" rtlCol="0" anchor="t"/>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Anonymization / Pseudonymization</a:t>
            </a:r>
            <a:endParaRPr lang="en-US" sz="1300" dirty="0"/>
          </a:p>
        </p:txBody>
      </p:sp>
      <p:sp>
        <p:nvSpPr>
          <p:cNvPr id="29" name="Text 26"/>
          <p:cNvSpPr/>
          <p:nvPr/>
        </p:nvSpPr>
        <p:spPr>
          <a:xfrm>
            <a:off x="8247888" y="3913632"/>
            <a:ext cx="2761488" cy="731520"/>
          </a:xfrm>
          <a:prstGeom prst="rect">
            <a:avLst/>
          </a:prstGeom>
          <a:noFill/>
          <a:ln/>
        </p:spPr>
        <p:txBody>
          <a:bodyPr wrap="square" rtlCol="0" anchor="ctr"/>
          <a:lstStyle/>
          <a:p>
            <a:pPr marL="0" indent="0">
              <a:lnSpc>
                <a:spcPct val="120000"/>
              </a:lnSpc>
              <a:buNone/>
            </a:pPr>
            <a:r>
              <a:rPr lang="en-US" sz="1080" dirty="0">
                <a:solidFill>
                  <a:srgbClr val="5B6178"/>
                </a:solidFill>
                <a:latin typeface="Calibri" pitchFamily="34" charset="0"/>
                <a:ea typeface="Calibri" pitchFamily="34" charset="-122"/>
                <a:cs typeface="Calibri" pitchFamily="34" charset="-120"/>
              </a:rPr>
              <a:t>Removes or replaces identifiers to break the link between data and identity.</a:t>
            </a:r>
            <a:endParaRPr lang="en-US" sz="1080" dirty="0"/>
          </a:p>
        </p:txBody>
      </p:sp>
      <p:sp>
        <p:nvSpPr>
          <p:cNvPr id="30" name="Text 2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05  ·  APPLICATIONS</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Applications / Real-World Use Cases</a:t>
            </a:r>
            <a:endParaRPr lang="en-US" sz="3000" dirty="0"/>
          </a:p>
        </p:txBody>
      </p:sp>
      <p:sp>
        <p:nvSpPr>
          <p:cNvPr id="4" name="Shape 2"/>
          <p:cNvSpPr/>
          <p:nvPr/>
        </p:nvSpPr>
        <p:spPr>
          <a:xfrm>
            <a:off x="9692640" y="502920"/>
            <a:ext cx="1371600" cy="1371600"/>
          </a:xfrm>
          <a:prstGeom prst="ellipse">
            <a:avLst/>
          </a:prstGeom>
          <a:solidFill>
            <a:srgbClr val="02C39A"/>
          </a:solidFill>
          <a:ln/>
        </p:spPr>
      </p:sp>
      <p:pic>
        <p:nvPicPr>
          <p:cNvPr id="5" name="Image 0" descr="/home/claude/pet_ppt/apps.png"/>
          <p:cNvPicPr>
            <a:picLocks noChangeAspect="1"/>
          </p:cNvPicPr>
          <p:nvPr/>
        </p:nvPicPr>
        <p:blipFill>
          <a:blip r:embed="rId3"/>
          <a:stretch>
            <a:fillRect/>
          </a:stretch>
        </p:blipFill>
        <p:spPr>
          <a:xfrm>
            <a:off x="9870948" y="681228"/>
            <a:ext cx="1014984" cy="1014984"/>
          </a:xfrm>
          <a:prstGeom prst="rect">
            <a:avLst/>
          </a:prstGeom>
        </p:spPr>
      </p:pic>
      <p:sp>
        <p:nvSpPr>
          <p:cNvPr id="6" name="Shape 3"/>
          <p:cNvSpPr/>
          <p:nvPr/>
        </p:nvSpPr>
        <p:spPr>
          <a:xfrm>
            <a:off x="548640" y="1691640"/>
            <a:ext cx="3401568" cy="1417320"/>
          </a:xfrm>
          <a:prstGeom prst="roundRect">
            <a:avLst>
              <a:gd name="adj" fmla="val 5161"/>
            </a:avLst>
          </a:prstGeom>
          <a:solidFill>
            <a:srgbClr val="1E2761"/>
          </a:solidFill>
          <a:ln/>
          <a:effectLst>
            <a:outerShdw blurRad="76200" dist="25400" dir="5400000" algn="bl" rotWithShape="0">
              <a:srgbClr val="1B1F3B">
                <a:alpha val="10000"/>
              </a:srgbClr>
            </a:outerShdw>
          </a:effectLst>
        </p:spPr>
      </p:sp>
      <p:sp>
        <p:nvSpPr>
          <p:cNvPr id="7" name="Text 4"/>
          <p:cNvSpPr/>
          <p:nvPr/>
        </p:nvSpPr>
        <p:spPr>
          <a:xfrm>
            <a:off x="777240" y="1856232"/>
            <a:ext cx="2944368" cy="41148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Healthcare</a:t>
            </a:r>
            <a:endParaRPr lang="en-US" sz="1350" dirty="0"/>
          </a:p>
        </p:txBody>
      </p:sp>
      <p:sp>
        <p:nvSpPr>
          <p:cNvPr id="8" name="Text 5"/>
          <p:cNvSpPr/>
          <p:nvPr/>
        </p:nvSpPr>
        <p:spPr>
          <a:xfrm>
            <a:off x="777240" y="2258568"/>
            <a:ext cx="2944368" cy="777240"/>
          </a:xfrm>
          <a:prstGeom prst="rect">
            <a:avLst/>
          </a:prstGeom>
          <a:noFill/>
          <a:ln/>
        </p:spPr>
        <p:txBody>
          <a:bodyPr wrap="square" rtlCol="0" anchor="ctr"/>
          <a:lstStyle/>
          <a:p>
            <a:pPr marL="0" indent="0">
              <a:lnSpc>
                <a:spcPct val="120000"/>
              </a:lnSpc>
              <a:buNone/>
            </a:pPr>
            <a:r>
              <a:rPr lang="en-US" sz="1080" dirty="0">
                <a:solidFill>
                  <a:srgbClr val="CADCFC"/>
                </a:solidFill>
                <a:latin typeface="Calibri" pitchFamily="34" charset="0"/>
                <a:ea typeface="Calibri" pitchFamily="34" charset="-122"/>
                <a:cs typeface="Calibri" pitchFamily="34" charset="-120"/>
              </a:rPr>
              <a:t>Hospitals share patient data for research using encryption and anonymization, preserving confidentiality.</a:t>
            </a:r>
            <a:endParaRPr lang="en-US" sz="1080" dirty="0"/>
          </a:p>
        </p:txBody>
      </p:sp>
      <p:sp>
        <p:nvSpPr>
          <p:cNvPr id="9" name="Shape 6"/>
          <p:cNvSpPr/>
          <p:nvPr/>
        </p:nvSpPr>
        <p:spPr>
          <a:xfrm>
            <a:off x="4169664" y="1691640"/>
            <a:ext cx="3401568" cy="1417320"/>
          </a:xfrm>
          <a:prstGeom prst="roundRect">
            <a:avLst>
              <a:gd name="adj" fmla="val 5161"/>
            </a:avLst>
          </a:prstGeom>
          <a:solidFill>
            <a:srgbClr val="1E2761"/>
          </a:solidFill>
          <a:ln/>
          <a:effectLst>
            <a:outerShdw blurRad="76200" dist="25400" dir="5400000" algn="bl" rotWithShape="0">
              <a:srgbClr val="1B1F3B">
                <a:alpha val="10000"/>
              </a:srgbClr>
            </a:outerShdw>
          </a:effectLst>
        </p:spPr>
      </p:sp>
      <p:sp>
        <p:nvSpPr>
          <p:cNvPr id="10" name="Text 7"/>
          <p:cNvSpPr/>
          <p:nvPr/>
        </p:nvSpPr>
        <p:spPr>
          <a:xfrm>
            <a:off x="4398264" y="1856232"/>
            <a:ext cx="2944368" cy="41148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Banking &amp; Finance</a:t>
            </a:r>
            <a:endParaRPr lang="en-US" sz="1350" dirty="0"/>
          </a:p>
        </p:txBody>
      </p:sp>
      <p:sp>
        <p:nvSpPr>
          <p:cNvPr id="11" name="Text 8"/>
          <p:cNvSpPr/>
          <p:nvPr/>
        </p:nvSpPr>
        <p:spPr>
          <a:xfrm>
            <a:off x="4398264" y="2258568"/>
            <a:ext cx="2944368" cy="777240"/>
          </a:xfrm>
          <a:prstGeom prst="rect">
            <a:avLst/>
          </a:prstGeom>
          <a:noFill/>
          <a:ln/>
        </p:spPr>
        <p:txBody>
          <a:bodyPr wrap="square" rtlCol="0" anchor="ctr"/>
          <a:lstStyle/>
          <a:p>
            <a:pPr marL="0" indent="0">
              <a:lnSpc>
                <a:spcPct val="120000"/>
              </a:lnSpc>
              <a:buNone/>
            </a:pPr>
            <a:r>
              <a:rPr lang="en-US" sz="1080" dirty="0">
                <a:solidFill>
                  <a:srgbClr val="CADCFC"/>
                </a:solidFill>
                <a:latin typeface="Calibri" pitchFamily="34" charset="0"/>
                <a:ea typeface="Calibri" pitchFamily="34" charset="-122"/>
                <a:cs typeface="Calibri" pitchFamily="34" charset="-120"/>
              </a:rPr>
              <a:t>Banks jointly detect cross-institution fraud via secure computation, without exposing customer records.</a:t>
            </a:r>
            <a:endParaRPr lang="en-US" sz="1080" dirty="0"/>
          </a:p>
        </p:txBody>
      </p:sp>
      <p:sp>
        <p:nvSpPr>
          <p:cNvPr id="12" name="Shape 9"/>
          <p:cNvSpPr/>
          <p:nvPr/>
        </p:nvSpPr>
        <p:spPr>
          <a:xfrm>
            <a:off x="7790688" y="1691640"/>
            <a:ext cx="3401568" cy="1417320"/>
          </a:xfrm>
          <a:prstGeom prst="roundRect">
            <a:avLst>
              <a:gd name="adj" fmla="val 5161"/>
            </a:avLst>
          </a:prstGeom>
          <a:solidFill>
            <a:srgbClr val="1E2761"/>
          </a:solidFill>
          <a:ln/>
          <a:effectLst>
            <a:outerShdw blurRad="76200" dist="25400" dir="5400000" algn="bl" rotWithShape="0">
              <a:srgbClr val="1B1F3B">
                <a:alpha val="10000"/>
              </a:srgbClr>
            </a:outerShdw>
          </a:effectLst>
        </p:spPr>
      </p:sp>
      <p:sp>
        <p:nvSpPr>
          <p:cNvPr id="13" name="Text 10"/>
          <p:cNvSpPr/>
          <p:nvPr/>
        </p:nvSpPr>
        <p:spPr>
          <a:xfrm>
            <a:off x="8019288" y="1856232"/>
            <a:ext cx="2944368" cy="41148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Government &amp; Census</a:t>
            </a:r>
            <a:endParaRPr lang="en-US" sz="1350" dirty="0"/>
          </a:p>
        </p:txBody>
      </p:sp>
      <p:sp>
        <p:nvSpPr>
          <p:cNvPr id="14" name="Text 11"/>
          <p:cNvSpPr/>
          <p:nvPr/>
        </p:nvSpPr>
        <p:spPr>
          <a:xfrm>
            <a:off x="8019288" y="2258568"/>
            <a:ext cx="2944368" cy="777240"/>
          </a:xfrm>
          <a:prstGeom prst="rect">
            <a:avLst/>
          </a:prstGeom>
          <a:noFill/>
          <a:ln/>
        </p:spPr>
        <p:txBody>
          <a:bodyPr wrap="square" rtlCol="0" anchor="ctr"/>
          <a:lstStyle/>
          <a:p>
            <a:pPr marL="0" indent="0">
              <a:lnSpc>
                <a:spcPct val="120000"/>
              </a:lnSpc>
              <a:buNone/>
            </a:pPr>
            <a:r>
              <a:rPr lang="en-US" sz="1080" dirty="0">
                <a:solidFill>
                  <a:srgbClr val="CADCFC"/>
                </a:solidFill>
                <a:latin typeface="Calibri" pitchFamily="34" charset="0"/>
                <a:ea typeface="Calibri" pitchFamily="34" charset="-122"/>
                <a:cs typeface="Calibri" pitchFamily="34" charset="-120"/>
              </a:rPr>
              <a:t>National statistics offices publish population data protected with differential privacy.</a:t>
            </a:r>
            <a:endParaRPr lang="en-US" sz="1080" dirty="0"/>
          </a:p>
        </p:txBody>
      </p:sp>
      <p:sp>
        <p:nvSpPr>
          <p:cNvPr id="15" name="Shape 12"/>
          <p:cNvSpPr/>
          <p:nvPr/>
        </p:nvSpPr>
        <p:spPr>
          <a:xfrm>
            <a:off x="548640" y="3291840"/>
            <a:ext cx="3401568" cy="1417320"/>
          </a:xfrm>
          <a:prstGeom prst="roundRect">
            <a:avLst>
              <a:gd name="adj" fmla="val 5161"/>
            </a:avLst>
          </a:prstGeom>
          <a:solidFill>
            <a:srgbClr val="FFFFFF"/>
          </a:solidFill>
          <a:ln/>
          <a:effectLst>
            <a:outerShdw blurRad="76200" dist="25400" dir="5400000" algn="bl" rotWithShape="0">
              <a:srgbClr val="1B1F3B">
                <a:alpha val="10000"/>
              </a:srgbClr>
            </a:outerShdw>
          </a:effectLst>
        </p:spPr>
      </p:sp>
      <p:sp>
        <p:nvSpPr>
          <p:cNvPr id="16" name="Text 13"/>
          <p:cNvSpPr/>
          <p:nvPr/>
        </p:nvSpPr>
        <p:spPr>
          <a:xfrm>
            <a:off x="777240" y="3456432"/>
            <a:ext cx="2944368" cy="41148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Mobile &amp; AI</a:t>
            </a:r>
            <a:endParaRPr lang="en-US" sz="1350" dirty="0"/>
          </a:p>
        </p:txBody>
      </p:sp>
      <p:sp>
        <p:nvSpPr>
          <p:cNvPr id="17" name="Text 14"/>
          <p:cNvSpPr/>
          <p:nvPr/>
        </p:nvSpPr>
        <p:spPr>
          <a:xfrm>
            <a:off x="777240" y="3858768"/>
            <a:ext cx="2944368" cy="777240"/>
          </a:xfrm>
          <a:prstGeom prst="rect">
            <a:avLst/>
          </a:prstGeom>
          <a:noFill/>
          <a:ln/>
        </p:spPr>
        <p:txBody>
          <a:bodyPr wrap="square" rtlCol="0" anchor="ctr"/>
          <a:lstStyle/>
          <a:p>
            <a:pPr marL="0" indent="0">
              <a:lnSpc>
                <a:spcPct val="120000"/>
              </a:lnSpc>
              <a:buNone/>
            </a:pPr>
            <a:r>
              <a:rPr lang="en-US" sz="1080" dirty="0">
                <a:solidFill>
                  <a:srgbClr val="5B6178"/>
                </a:solidFill>
                <a:latin typeface="Calibri" pitchFamily="34" charset="0"/>
                <a:ea typeface="Calibri" pitchFamily="34" charset="-122"/>
                <a:cs typeface="Calibri" pitchFamily="34" charset="-120"/>
              </a:rPr>
              <a:t>Keyboards and voice assistants improve via federated learning trained directly on-device.</a:t>
            </a:r>
            <a:endParaRPr lang="en-US" sz="1080" dirty="0"/>
          </a:p>
        </p:txBody>
      </p:sp>
      <p:sp>
        <p:nvSpPr>
          <p:cNvPr id="18" name="Shape 15"/>
          <p:cNvSpPr/>
          <p:nvPr/>
        </p:nvSpPr>
        <p:spPr>
          <a:xfrm>
            <a:off x="4169664" y="3291840"/>
            <a:ext cx="3401568" cy="1417320"/>
          </a:xfrm>
          <a:prstGeom prst="roundRect">
            <a:avLst>
              <a:gd name="adj" fmla="val 5161"/>
            </a:avLst>
          </a:prstGeom>
          <a:solidFill>
            <a:srgbClr val="FFFFFF"/>
          </a:solidFill>
          <a:ln/>
          <a:effectLst>
            <a:outerShdw blurRad="76200" dist="25400" dir="5400000" algn="bl" rotWithShape="0">
              <a:srgbClr val="1B1F3B">
                <a:alpha val="10000"/>
              </a:srgbClr>
            </a:outerShdw>
          </a:effectLst>
        </p:spPr>
      </p:sp>
      <p:sp>
        <p:nvSpPr>
          <p:cNvPr id="19" name="Text 16"/>
          <p:cNvSpPr/>
          <p:nvPr/>
        </p:nvSpPr>
        <p:spPr>
          <a:xfrm>
            <a:off x="4398264" y="3456432"/>
            <a:ext cx="2944368" cy="41148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Digital Advertising</a:t>
            </a:r>
            <a:endParaRPr lang="en-US" sz="1350" dirty="0"/>
          </a:p>
        </p:txBody>
      </p:sp>
      <p:sp>
        <p:nvSpPr>
          <p:cNvPr id="20" name="Text 17"/>
          <p:cNvSpPr/>
          <p:nvPr/>
        </p:nvSpPr>
        <p:spPr>
          <a:xfrm>
            <a:off x="4398264" y="3858768"/>
            <a:ext cx="2944368" cy="777240"/>
          </a:xfrm>
          <a:prstGeom prst="rect">
            <a:avLst/>
          </a:prstGeom>
          <a:noFill/>
          <a:ln/>
        </p:spPr>
        <p:txBody>
          <a:bodyPr wrap="square" rtlCol="0" anchor="ctr"/>
          <a:lstStyle/>
          <a:p>
            <a:pPr marL="0" indent="0">
              <a:lnSpc>
                <a:spcPct val="120000"/>
              </a:lnSpc>
              <a:buNone/>
            </a:pPr>
            <a:r>
              <a:rPr lang="en-US" sz="1080" dirty="0">
                <a:solidFill>
                  <a:srgbClr val="5B6178"/>
                </a:solidFill>
                <a:latin typeface="Calibri" pitchFamily="34" charset="0"/>
                <a:ea typeface="Calibri" pitchFamily="34" charset="-122"/>
                <a:cs typeface="Calibri" pitchFamily="34" charset="-120"/>
              </a:rPr>
              <a:t>Privacy-preserving measurement APIs report campaign performance without tracking individuals.</a:t>
            </a:r>
            <a:endParaRPr lang="en-US" sz="1080" dirty="0"/>
          </a:p>
        </p:txBody>
      </p:sp>
      <p:sp>
        <p:nvSpPr>
          <p:cNvPr id="21" name="Shape 18"/>
          <p:cNvSpPr/>
          <p:nvPr/>
        </p:nvSpPr>
        <p:spPr>
          <a:xfrm>
            <a:off x="7790688" y="3291840"/>
            <a:ext cx="3401568" cy="1417320"/>
          </a:xfrm>
          <a:prstGeom prst="roundRect">
            <a:avLst>
              <a:gd name="adj" fmla="val 5161"/>
            </a:avLst>
          </a:prstGeom>
          <a:solidFill>
            <a:srgbClr val="FFFFFF"/>
          </a:solidFill>
          <a:ln/>
          <a:effectLst>
            <a:outerShdw blurRad="76200" dist="25400" dir="5400000" algn="bl" rotWithShape="0">
              <a:srgbClr val="1B1F3B">
                <a:alpha val="10000"/>
              </a:srgbClr>
            </a:outerShdw>
          </a:effectLst>
        </p:spPr>
      </p:sp>
      <p:sp>
        <p:nvSpPr>
          <p:cNvPr id="22" name="Text 19"/>
          <p:cNvSpPr/>
          <p:nvPr/>
        </p:nvSpPr>
        <p:spPr>
          <a:xfrm>
            <a:off x="8019288" y="3456432"/>
            <a:ext cx="2944368" cy="41148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Smart Cities &amp; IoT</a:t>
            </a:r>
            <a:endParaRPr lang="en-US" sz="1350" dirty="0"/>
          </a:p>
        </p:txBody>
      </p:sp>
      <p:sp>
        <p:nvSpPr>
          <p:cNvPr id="23" name="Text 20"/>
          <p:cNvSpPr/>
          <p:nvPr/>
        </p:nvSpPr>
        <p:spPr>
          <a:xfrm>
            <a:off x="8019288" y="3858768"/>
            <a:ext cx="2944368" cy="777240"/>
          </a:xfrm>
          <a:prstGeom prst="rect">
            <a:avLst/>
          </a:prstGeom>
          <a:noFill/>
          <a:ln/>
        </p:spPr>
        <p:txBody>
          <a:bodyPr wrap="square" rtlCol="0" anchor="ctr"/>
          <a:lstStyle/>
          <a:p>
            <a:pPr marL="0" indent="0">
              <a:lnSpc>
                <a:spcPct val="120000"/>
              </a:lnSpc>
              <a:buNone/>
            </a:pPr>
            <a:r>
              <a:rPr lang="en-US" sz="1080" dirty="0">
                <a:solidFill>
                  <a:srgbClr val="5B6178"/>
                </a:solidFill>
                <a:latin typeface="Calibri" pitchFamily="34" charset="0"/>
                <a:ea typeface="Calibri" pitchFamily="34" charset="-122"/>
                <a:cs typeface="Calibri" pitchFamily="34" charset="-120"/>
              </a:rPr>
              <a:t>Traffic and utility sensors aggregate data for planning while masking individual movement.</a:t>
            </a:r>
            <a:endParaRPr lang="en-US" sz="1080" dirty="0"/>
          </a:p>
        </p:txBody>
      </p:sp>
      <p:sp>
        <p:nvSpPr>
          <p:cNvPr id="24" name="Text 21"/>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06  ·  TRADE-OFFS</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Advantages and Limitations</a:t>
            </a:r>
            <a:endParaRPr lang="en-US" sz="3000" dirty="0"/>
          </a:p>
        </p:txBody>
      </p:sp>
      <p:sp>
        <p:nvSpPr>
          <p:cNvPr id="4" name="Shape 2"/>
          <p:cNvSpPr/>
          <p:nvPr/>
        </p:nvSpPr>
        <p:spPr>
          <a:xfrm>
            <a:off x="9692640" y="502920"/>
            <a:ext cx="1371600" cy="1371600"/>
          </a:xfrm>
          <a:prstGeom prst="ellipse">
            <a:avLst/>
          </a:prstGeom>
          <a:solidFill>
            <a:srgbClr val="02C39A"/>
          </a:solidFill>
          <a:ln/>
        </p:spPr>
      </p:sp>
      <p:pic>
        <p:nvPicPr>
          <p:cNvPr id="5" name="Image 0" descr="/home/claude/pet_ppt/balance.png"/>
          <p:cNvPicPr>
            <a:picLocks noChangeAspect="1"/>
          </p:cNvPicPr>
          <p:nvPr/>
        </p:nvPicPr>
        <p:blipFill>
          <a:blip r:embed="rId3"/>
          <a:stretch>
            <a:fillRect/>
          </a:stretch>
        </p:blipFill>
        <p:spPr>
          <a:xfrm>
            <a:off x="9870948" y="681228"/>
            <a:ext cx="1014984" cy="1014984"/>
          </a:xfrm>
          <a:prstGeom prst="rect">
            <a:avLst/>
          </a:prstGeom>
        </p:spPr>
      </p:pic>
      <p:sp>
        <p:nvSpPr>
          <p:cNvPr id="6" name="Shape 3"/>
          <p:cNvSpPr/>
          <p:nvPr/>
        </p:nvSpPr>
        <p:spPr>
          <a:xfrm>
            <a:off x="548640" y="1691640"/>
            <a:ext cx="5074920" cy="4297680"/>
          </a:xfrm>
          <a:prstGeom prst="roundRect">
            <a:avLst>
              <a:gd name="adj" fmla="val 1702"/>
            </a:avLst>
          </a:prstGeom>
          <a:solidFill>
            <a:srgbClr val="EAF9F4"/>
          </a:solidFill>
          <a:ln/>
        </p:spPr>
      </p:sp>
      <p:sp>
        <p:nvSpPr>
          <p:cNvPr id="7" name="Text 4"/>
          <p:cNvSpPr/>
          <p:nvPr/>
        </p:nvSpPr>
        <p:spPr>
          <a:xfrm>
            <a:off x="822960" y="1874520"/>
            <a:ext cx="4572000" cy="365760"/>
          </a:xfrm>
          <a:prstGeom prst="rect">
            <a:avLst/>
          </a:prstGeom>
          <a:noFill/>
          <a:ln/>
        </p:spPr>
        <p:txBody>
          <a:bodyPr wrap="square" rtlCol="0" anchor="ctr"/>
          <a:lstStyle/>
          <a:p>
            <a:pPr marL="0" indent="0">
              <a:buNone/>
            </a:pPr>
            <a:r>
              <a:rPr lang="en-US" sz="1400" b="1" kern="0" spc="150" dirty="0">
                <a:solidFill>
                  <a:srgbClr val="017A5B"/>
                </a:solidFill>
                <a:latin typeface="Calibri" pitchFamily="34" charset="0"/>
                <a:ea typeface="Calibri" pitchFamily="34" charset="-122"/>
                <a:cs typeface="Calibri" pitchFamily="34" charset="-120"/>
              </a:rPr>
              <a:t>ADVANTAGES</a:t>
            </a:r>
            <a:endParaRPr lang="en-US" sz="1400" dirty="0"/>
          </a:p>
        </p:txBody>
      </p:sp>
      <p:sp>
        <p:nvSpPr>
          <p:cNvPr id="8" name="Shape 5"/>
          <p:cNvSpPr/>
          <p:nvPr/>
        </p:nvSpPr>
        <p:spPr>
          <a:xfrm>
            <a:off x="868680" y="2386584"/>
            <a:ext cx="109728" cy="109728"/>
          </a:xfrm>
          <a:prstGeom prst="ellipse">
            <a:avLst/>
          </a:prstGeom>
          <a:solidFill>
            <a:srgbClr val="02C39A"/>
          </a:solidFill>
          <a:ln/>
        </p:spPr>
      </p:sp>
      <p:sp>
        <p:nvSpPr>
          <p:cNvPr id="9" name="Text 6"/>
          <p:cNvSpPr/>
          <p:nvPr/>
        </p:nvSpPr>
        <p:spPr>
          <a:xfrm>
            <a:off x="1143000" y="2221992"/>
            <a:ext cx="4343400" cy="566928"/>
          </a:xfrm>
          <a:prstGeom prst="rect">
            <a:avLst/>
          </a:prstGeom>
          <a:noFill/>
          <a:ln/>
        </p:spPr>
        <p:txBody>
          <a:bodyPr wrap="square" rtlCol="0" anchor="t"/>
          <a:lstStyle/>
          <a:p>
            <a:pPr marL="0" indent="0">
              <a:lnSpc>
                <a:spcPct val="115000"/>
              </a:lnSpc>
              <a:buNone/>
            </a:pPr>
            <a:r>
              <a:rPr lang="en-US" sz="1200" dirty="0">
                <a:solidFill>
                  <a:srgbClr val="1B1F3B"/>
                </a:solidFill>
                <a:latin typeface="Calibri" pitchFamily="34" charset="0"/>
                <a:ea typeface="Calibri" pitchFamily="34" charset="-122"/>
                <a:cs typeface="Calibri" pitchFamily="34" charset="-120"/>
              </a:rPr>
              <a:t>Strengthens compliance with GDPR, CCPA, DPDP Act, and other regulations</a:t>
            </a:r>
            <a:endParaRPr lang="en-US" sz="1200" dirty="0"/>
          </a:p>
        </p:txBody>
      </p:sp>
      <p:sp>
        <p:nvSpPr>
          <p:cNvPr id="10" name="Shape 7"/>
          <p:cNvSpPr/>
          <p:nvPr/>
        </p:nvSpPr>
        <p:spPr>
          <a:xfrm>
            <a:off x="868680" y="3099816"/>
            <a:ext cx="109728" cy="109728"/>
          </a:xfrm>
          <a:prstGeom prst="ellipse">
            <a:avLst/>
          </a:prstGeom>
          <a:solidFill>
            <a:srgbClr val="02C39A"/>
          </a:solidFill>
          <a:ln/>
        </p:spPr>
      </p:sp>
      <p:sp>
        <p:nvSpPr>
          <p:cNvPr id="11" name="Text 8"/>
          <p:cNvSpPr/>
          <p:nvPr/>
        </p:nvSpPr>
        <p:spPr>
          <a:xfrm>
            <a:off x="1143000" y="2935224"/>
            <a:ext cx="4343400" cy="566928"/>
          </a:xfrm>
          <a:prstGeom prst="rect">
            <a:avLst/>
          </a:prstGeom>
          <a:noFill/>
          <a:ln/>
        </p:spPr>
        <p:txBody>
          <a:bodyPr wrap="square" rtlCol="0" anchor="t"/>
          <a:lstStyle/>
          <a:p>
            <a:pPr marL="0" indent="0">
              <a:lnSpc>
                <a:spcPct val="115000"/>
              </a:lnSpc>
              <a:buNone/>
            </a:pPr>
            <a:r>
              <a:rPr lang="en-US" sz="1200" dirty="0">
                <a:solidFill>
                  <a:srgbClr val="1B1F3B"/>
                </a:solidFill>
                <a:latin typeface="Calibri" pitchFamily="34" charset="0"/>
                <a:ea typeface="Calibri" pitchFamily="34" charset="-122"/>
                <a:cs typeface="Calibri" pitchFamily="34" charset="-120"/>
              </a:rPr>
              <a:t>Builds public and partner trust in how data is handled</a:t>
            </a:r>
            <a:endParaRPr lang="en-US" sz="1200" dirty="0"/>
          </a:p>
        </p:txBody>
      </p:sp>
      <p:sp>
        <p:nvSpPr>
          <p:cNvPr id="12" name="Shape 9"/>
          <p:cNvSpPr/>
          <p:nvPr/>
        </p:nvSpPr>
        <p:spPr>
          <a:xfrm>
            <a:off x="868680" y="3813048"/>
            <a:ext cx="109728" cy="109728"/>
          </a:xfrm>
          <a:prstGeom prst="ellipse">
            <a:avLst/>
          </a:prstGeom>
          <a:solidFill>
            <a:srgbClr val="02C39A"/>
          </a:solidFill>
          <a:ln/>
        </p:spPr>
      </p:sp>
      <p:sp>
        <p:nvSpPr>
          <p:cNvPr id="13" name="Text 10"/>
          <p:cNvSpPr/>
          <p:nvPr/>
        </p:nvSpPr>
        <p:spPr>
          <a:xfrm>
            <a:off x="1143000" y="3648456"/>
            <a:ext cx="4343400" cy="566928"/>
          </a:xfrm>
          <a:prstGeom prst="rect">
            <a:avLst/>
          </a:prstGeom>
          <a:noFill/>
          <a:ln/>
        </p:spPr>
        <p:txBody>
          <a:bodyPr wrap="square" rtlCol="0" anchor="t"/>
          <a:lstStyle/>
          <a:p>
            <a:pPr marL="0" indent="0">
              <a:lnSpc>
                <a:spcPct val="115000"/>
              </a:lnSpc>
              <a:buNone/>
            </a:pPr>
            <a:r>
              <a:rPr lang="en-US" sz="1200" dirty="0">
                <a:solidFill>
                  <a:srgbClr val="1B1F3B"/>
                </a:solidFill>
                <a:latin typeface="Calibri" pitchFamily="34" charset="0"/>
                <a:ea typeface="Calibri" pitchFamily="34" charset="-122"/>
                <a:cs typeface="Calibri" pitchFamily="34" charset="-120"/>
              </a:rPr>
              <a:t>Enables safe collaboration and data sharing across organizations</a:t>
            </a:r>
            <a:endParaRPr lang="en-US" sz="1200" dirty="0"/>
          </a:p>
        </p:txBody>
      </p:sp>
      <p:sp>
        <p:nvSpPr>
          <p:cNvPr id="14" name="Shape 11"/>
          <p:cNvSpPr/>
          <p:nvPr/>
        </p:nvSpPr>
        <p:spPr>
          <a:xfrm>
            <a:off x="868680" y="4526280"/>
            <a:ext cx="109728" cy="109728"/>
          </a:xfrm>
          <a:prstGeom prst="ellipse">
            <a:avLst/>
          </a:prstGeom>
          <a:solidFill>
            <a:srgbClr val="02C39A"/>
          </a:solidFill>
          <a:ln/>
        </p:spPr>
      </p:sp>
      <p:sp>
        <p:nvSpPr>
          <p:cNvPr id="15" name="Text 12"/>
          <p:cNvSpPr/>
          <p:nvPr/>
        </p:nvSpPr>
        <p:spPr>
          <a:xfrm>
            <a:off x="1143000" y="4361688"/>
            <a:ext cx="4343400" cy="566928"/>
          </a:xfrm>
          <a:prstGeom prst="rect">
            <a:avLst/>
          </a:prstGeom>
          <a:noFill/>
          <a:ln/>
        </p:spPr>
        <p:txBody>
          <a:bodyPr wrap="square" rtlCol="0" anchor="t"/>
          <a:lstStyle/>
          <a:p>
            <a:pPr marL="0" indent="0">
              <a:lnSpc>
                <a:spcPct val="115000"/>
              </a:lnSpc>
              <a:buNone/>
            </a:pPr>
            <a:r>
              <a:rPr lang="en-US" sz="1200" dirty="0">
                <a:solidFill>
                  <a:srgbClr val="1B1F3B"/>
                </a:solidFill>
                <a:latin typeface="Calibri" pitchFamily="34" charset="0"/>
                <a:ea typeface="Calibri" pitchFamily="34" charset="-122"/>
                <a:cs typeface="Calibri" pitchFamily="34" charset="-120"/>
              </a:rPr>
              <a:t>Reduces impact and liability of a potential data breach</a:t>
            </a:r>
            <a:endParaRPr lang="en-US" sz="1200" dirty="0"/>
          </a:p>
        </p:txBody>
      </p:sp>
      <p:sp>
        <p:nvSpPr>
          <p:cNvPr id="16" name="Shape 13"/>
          <p:cNvSpPr/>
          <p:nvPr/>
        </p:nvSpPr>
        <p:spPr>
          <a:xfrm>
            <a:off x="868680" y="5239512"/>
            <a:ext cx="109728" cy="109728"/>
          </a:xfrm>
          <a:prstGeom prst="ellipse">
            <a:avLst/>
          </a:prstGeom>
          <a:solidFill>
            <a:srgbClr val="02C39A"/>
          </a:solidFill>
          <a:ln/>
        </p:spPr>
      </p:sp>
      <p:sp>
        <p:nvSpPr>
          <p:cNvPr id="17" name="Text 14"/>
          <p:cNvSpPr/>
          <p:nvPr/>
        </p:nvSpPr>
        <p:spPr>
          <a:xfrm>
            <a:off x="1143000" y="5074920"/>
            <a:ext cx="4343400" cy="566928"/>
          </a:xfrm>
          <a:prstGeom prst="rect">
            <a:avLst/>
          </a:prstGeom>
          <a:noFill/>
          <a:ln/>
        </p:spPr>
        <p:txBody>
          <a:bodyPr wrap="square" rtlCol="0" anchor="t"/>
          <a:lstStyle/>
          <a:p>
            <a:pPr marL="0" indent="0">
              <a:lnSpc>
                <a:spcPct val="115000"/>
              </a:lnSpc>
              <a:buNone/>
            </a:pPr>
            <a:r>
              <a:rPr lang="en-US" sz="1200" dirty="0">
                <a:solidFill>
                  <a:srgbClr val="1B1F3B"/>
                </a:solidFill>
                <a:latin typeface="Calibri" pitchFamily="34" charset="0"/>
                <a:ea typeface="Calibri" pitchFamily="34" charset="-122"/>
                <a:cs typeface="Calibri" pitchFamily="34" charset="-120"/>
              </a:rPr>
              <a:t>Supports responsible, privacy-first AI model training</a:t>
            </a:r>
            <a:endParaRPr lang="en-US" sz="1200" dirty="0"/>
          </a:p>
        </p:txBody>
      </p:sp>
      <p:sp>
        <p:nvSpPr>
          <p:cNvPr id="18" name="Shape 15"/>
          <p:cNvSpPr/>
          <p:nvPr/>
        </p:nvSpPr>
        <p:spPr>
          <a:xfrm>
            <a:off x="5760720" y="1691640"/>
            <a:ext cx="5074920" cy="4297680"/>
          </a:xfrm>
          <a:prstGeom prst="roundRect">
            <a:avLst>
              <a:gd name="adj" fmla="val 1702"/>
            </a:avLst>
          </a:prstGeom>
          <a:solidFill>
            <a:srgbClr val="FDF1EE"/>
          </a:solidFill>
          <a:ln/>
        </p:spPr>
      </p:sp>
      <p:sp>
        <p:nvSpPr>
          <p:cNvPr id="19" name="Text 16"/>
          <p:cNvSpPr/>
          <p:nvPr/>
        </p:nvSpPr>
        <p:spPr>
          <a:xfrm>
            <a:off x="6035040" y="1874520"/>
            <a:ext cx="4572000" cy="365760"/>
          </a:xfrm>
          <a:prstGeom prst="rect">
            <a:avLst/>
          </a:prstGeom>
          <a:noFill/>
          <a:ln/>
        </p:spPr>
        <p:txBody>
          <a:bodyPr wrap="square" rtlCol="0" anchor="ctr"/>
          <a:lstStyle/>
          <a:p>
            <a:pPr marL="0" indent="0">
              <a:buNone/>
            </a:pPr>
            <a:r>
              <a:rPr lang="en-US" sz="1400" b="1" kern="0" spc="150" dirty="0">
                <a:solidFill>
                  <a:srgbClr val="C34A2C"/>
                </a:solidFill>
                <a:latin typeface="Calibri" pitchFamily="34" charset="0"/>
                <a:ea typeface="Calibri" pitchFamily="34" charset="-122"/>
                <a:cs typeface="Calibri" pitchFamily="34" charset="-120"/>
              </a:rPr>
              <a:t>LIMITATIONS</a:t>
            </a:r>
            <a:endParaRPr lang="en-US" sz="1400" dirty="0"/>
          </a:p>
        </p:txBody>
      </p:sp>
      <p:sp>
        <p:nvSpPr>
          <p:cNvPr id="20" name="Shape 17"/>
          <p:cNvSpPr/>
          <p:nvPr/>
        </p:nvSpPr>
        <p:spPr>
          <a:xfrm>
            <a:off x="6080760" y="2386584"/>
            <a:ext cx="109728" cy="109728"/>
          </a:xfrm>
          <a:prstGeom prst="ellipse">
            <a:avLst/>
          </a:prstGeom>
          <a:solidFill>
            <a:srgbClr val="C34A2C"/>
          </a:solidFill>
          <a:ln/>
        </p:spPr>
      </p:sp>
      <p:sp>
        <p:nvSpPr>
          <p:cNvPr id="21" name="Text 18"/>
          <p:cNvSpPr/>
          <p:nvPr/>
        </p:nvSpPr>
        <p:spPr>
          <a:xfrm>
            <a:off x="6355080" y="2221992"/>
            <a:ext cx="4343400" cy="566928"/>
          </a:xfrm>
          <a:prstGeom prst="rect">
            <a:avLst/>
          </a:prstGeom>
          <a:noFill/>
          <a:ln/>
        </p:spPr>
        <p:txBody>
          <a:bodyPr wrap="square" rtlCol="0" anchor="t"/>
          <a:lstStyle/>
          <a:p>
            <a:pPr marL="0" indent="0">
              <a:lnSpc>
                <a:spcPct val="115000"/>
              </a:lnSpc>
              <a:buNone/>
            </a:pPr>
            <a:r>
              <a:rPr lang="en-US" sz="1200" dirty="0">
                <a:solidFill>
                  <a:srgbClr val="1B1F3B"/>
                </a:solidFill>
                <a:latin typeface="Calibri" pitchFamily="34" charset="0"/>
                <a:ea typeface="Calibri" pitchFamily="34" charset="-122"/>
                <a:cs typeface="Calibri" pitchFamily="34" charset="-120"/>
              </a:rPr>
              <a:t>Adds computational overhead, slowing processing and analytics</a:t>
            </a:r>
            <a:endParaRPr lang="en-US" sz="1200" dirty="0"/>
          </a:p>
        </p:txBody>
      </p:sp>
      <p:sp>
        <p:nvSpPr>
          <p:cNvPr id="22" name="Shape 19"/>
          <p:cNvSpPr/>
          <p:nvPr/>
        </p:nvSpPr>
        <p:spPr>
          <a:xfrm>
            <a:off x="6080760" y="3099816"/>
            <a:ext cx="109728" cy="109728"/>
          </a:xfrm>
          <a:prstGeom prst="ellipse">
            <a:avLst/>
          </a:prstGeom>
          <a:solidFill>
            <a:srgbClr val="C34A2C"/>
          </a:solidFill>
          <a:ln/>
        </p:spPr>
      </p:sp>
      <p:sp>
        <p:nvSpPr>
          <p:cNvPr id="23" name="Text 20"/>
          <p:cNvSpPr/>
          <p:nvPr/>
        </p:nvSpPr>
        <p:spPr>
          <a:xfrm>
            <a:off x="6355080" y="2935224"/>
            <a:ext cx="4343400" cy="566928"/>
          </a:xfrm>
          <a:prstGeom prst="rect">
            <a:avLst/>
          </a:prstGeom>
          <a:noFill/>
          <a:ln/>
        </p:spPr>
        <p:txBody>
          <a:bodyPr wrap="square" rtlCol="0" anchor="t"/>
          <a:lstStyle/>
          <a:p>
            <a:pPr marL="0" indent="0">
              <a:lnSpc>
                <a:spcPct val="115000"/>
              </a:lnSpc>
              <a:buNone/>
            </a:pPr>
            <a:r>
              <a:rPr lang="en-US" sz="1200" dirty="0">
                <a:solidFill>
                  <a:srgbClr val="1B1F3B"/>
                </a:solidFill>
                <a:latin typeface="Calibri" pitchFamily="34" charset="0"/>
                <a:ea typeface="Calibri" pitchFamily="34" charset="-122"/>
                <a:cs typeface="Calibri" pitchFamily="34" charset="-120"/>
              </a:rPr>
              <a:t>Noise or encryption can reduce data accuracy and utility</a:t>
            </a:r>
            <a:endParaRPr lang="en-US" sz="1200" dirty="0"/>
          </a:p>
        </p:txBody>
      </p:sp>
      <p:sp>
        <p:nvSpPr>
          <p:cNvPr id="24" name="Shape 21"/>
          <p:cNvSpPr/>
          <p:nvPr/>
        </p:nvSpPr>
        <p:spPr>
          <a:xfrm>
            <a:off x="6080760" y="3813048"/>
            <a:ext cx="109728" cy="109728"/>
          </a:xfrm>
          <a:prstGeom prst="ellipse">
            <a:avLst/>
          </a:prstGeom>
          <a:solidFill>
            <a:srgbClr val="C34A2C"/>
          </a:solidFill>
          <a:ln/>
        </p:spPr>
      </p:sp>
      <p:sp>
        <p:nvSpPr>
          <p:cNvPr id="25" name="Text 22"/>
          <p:cNvSpPr/>
          <p:nvPr/>
        </p:nvSpPr>
        <p:spPr>
          <a:xfrm>
            <a:off x="6355080" y="3648456"/>
            <a:ext cx="4343400" cy="566928"/>
          </a:xfrm>
          <a:prstGeom prst="rect">
            <a:avLst/>
          </a:prstGeom>
          <a:noFill/>
          <a:ln/>
        </p:spPr>
        <p:txBody>
          <a:bodyPr wrap="square" rtlCol="0" anchor="t"/>
          <a:lstStyle/>
          <a:p>
            <a:pPr marL="0" indent="0">
              <a:lnSpc>
                <a:spcPct val="115000"/>
              </a:lnSpc>
              <a:buNone/>
            </a:pPr>
            <a:r>
              <a:rPr lang="en-US" sz="1200" dirty="0">
                <a:solidFill>
                  <a:srgbClr val="1B1F3B"/>
                </a:solidFill>
                <a:latin typeface="Calibri" pitchFamily="34" charset="0"/>
                <a:ea typeface="Calibri" pitchFamily="34" charset="-122"/>
                <a:cs typeface="Calibri" pitchFamily="34" charset="-120"/>
              </a:rPr>
              <a:t>Implementation requires specialized cryptography expertise</a:t>
            </a:r>
            <a:endParaRPr lang="en-US" sz="1200" dirty="0"/>
          </a:p>
        </p:txBody>
      </p:sp>
      <p:sp>
        <p:nvSpPr>
          <p:cNvPr id="26" name="Shape 23"/>
          <p:cNvSpPr/>
          <p:nvPr/>
        </p:nvSpPr>
        <p:spPr>
          <a:xfrm>
            <a:off x="6080760" y="4526280"/>
            <a:ext cx="109728" cy="109728"/>
          </a:xfrm>
          <a:prstGeom prst="ellipse">
            <a:avLst/>
          </a:prstGeom>
          <a:solidFill>
            <a:srgbClr val="C34A2C"/>
          </a:solidFill>
          <a:ln/>
        </p:spPr>
      </p:sp>
      <p:sp>
        <p:nvSpPr>
          <p:cNvPr id="27" name="Text 24"/>
          <p:cNvSpPr/>
          <p:nvPr/>
        </p:nvSpPr>
        <p:spPr>
          <a:xfrm>
            <a:off x="6355080" y="4361688"/>
            <a:ext cx="4343400" cy="566928"/>
          </a:xfrm>
          <a:prstGeom prst="rect">
            <a:avLst/>
          </a:prstGeom>
          <a:noFill/>
          <a:ln/>
        </p:spPr>
        <p:txBody>
          <a:bodyPr wrap="square" rtlCol="0" anchor="t"/>
          <a:lstStyle/>
          <a:p>
            <a:pPr marL="0" indent="0">
              <a:lnSpc>
                <a:spcPct val="115000"/>
              </a:lnSpc>
              <a:buNone/>
            </a:pPr>
            <a:r>
              <a:rPr lang="en-US" sz="1200" dirty="0">
                <a:solidFill>
                  <a:srgbClr val="1B1F3B"/>
                </a:solidFill>
                <a:latin typeface="Calibri" pitchFamily="34" charset="0"/>
                <a:ea typeface="Calibri" pitchFamily="34" charset="-122"/>
                <a:cs typeface="Calibri" pitchFamily="34" charset="-120"/>
              </a:rPr>
              <a:t>Lack of common standards makes systems hard to interoperate</a:t>
            </a:r>
            <a:endParaRPr lang="en-US" sz="1200" dirty="0"/>
          </a:p>
        </p:txBody>
      </p:sp>
      <p:sp>
        <p:nvSpPr>
          <p:cNvPr id="28" name="Shape 25"/>
          <p:cNvSpPr/>
          <p:nvPr/>
        </p:nvSpPr>
        <p:spPr>
          <a:xfrm>
            <a:off x="6080760" y="5239512"/>
            <a:ext cx="109728" cy="109728"/>
          </a:xfrm>
          <a:prstGeom prst="ellipse">
            <a:avLst/>
          </a:prstGeom>
          <a:solidFill>
            <a:srgbClr val="C34A2C"/>
          </a:solidFill>
          <a:ln/>
        </p:spPr>
      </p:sp>
      <p:sp>
        <p:nvSpPr>
          <p:cNvPr id="29" name="Text 26"/>
          <p:cNvSpPr/>
          <p:nvPr/>
        </p:nvSpPr>
        <p:spPr>
          <a:xfrm>
            <a:off x="6355080" y="5074920"/>
            <a:ext cx="4343400" cy="566928"/>
          </a:xfrm>
          <a:prstGeom prst="rect">
            <a:avLst/>
          </a:prstGeom>
          <a:noFill/>
          <a:ln/>
        </p:spPr>
        <p:txBody>
          <a:bodyPr wrap="square" rtlCol="0" anchor="t"/>
          <a:lstStyle/>
          <a:p>
            <a:pPr marL="0" indent="0">
              <a:lnSpc>
                <a:spcPct val="115000"/>
              </a:lnSpc>
              <a:buNone/>
            </a:pPr>
            <a:r>
              <a:rPr lang="en-US" sz="1200" dirty="0">
                <a:solidFill>
                  <a:srgbClr val="1B1F3B"/>
                </a:solidFill>
                <a:latin typeface="Calibri" pitchFamily="34" charset="0"/>
                <a:ea typeface="Calibri" pitchFamily="34" charset="-122"/>
                <a:cs typeface="Calibri" pitchFamily="34" charset="-120"/>
              </a:rPr>
              <a:t>Can be costly to integrate into existing legacy infrastructure</a:t>
            </a:r>
            <a:endParaRPr lang="en-US" sz="1200" dirty="0"/>
          </a:p>
        </p:txBody>
      </p:sp>
      <p:sp>
        <p:nvSpPr>
          <p:cNvPr id="30" name="Text 2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07  ·  TRENDS</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Recent Developments and Trends</a:t>
            </a:r>
            <a:endParaRPr lang="en-US" sz="3000" dirty="0"/>
          </a:p>
        </p:txBody>
      </p:sp>
      <p:sp>
        <p:nvSpPr>
          <p:cNvPr id="4" name="Shape 2"/>
          <p:cNvSpPr/>
          <p:nvPr/>
        </p:nvSpPr>
        <p:spPr>
          <a:xfrm>
            <a:off x="9692640" y="502920"/>
            <a:ext cx="1371600" cy="1371600"/>
          </a:xfrm>
          <a:prstGeom prst="ellipse">
            <a:avLst/>
          </a:prstGeom>
          <a:solidFill>
            <a:srgbClr val="02C39A"/>
          </a:solidFill>
          <a:ln/>
        </p:spPr>
      </p:sp>
      <p:pic>
        <p:nvPicPr>
          <p:cNvPr id="5" name="Image 0" descr="/home/claude/pet_ppt/trends.png"/>
          <p:cNvPicPr>
            <a:picLocks noChangeAspect="1"/>
          </p:cNvPicPr>
          <p:nvPr/>
        </p:nvPicPr>
        <p:blipFill>
          <a:blip r:embed="rId3"/>
          <a:stretch>
            <a:fillRect/>
          </a:stretch>
        </p:blipFill>
        <p:spPr>
          <a:xfrm>
            <a:off x="9870948" y="681228"/>
            <a:ext cx="1014984" cy="1014984"/>
          </a:xfrm>
          <a:prstGeom prst="rect">
            <a:avLst/>
          </a:prstGeom>
        </p:spPr>
      </p:pic>
      <p:sp>
        <p:nvSpPr>
          <p:cNvPr id="6" name="Shape 3"/>
          <p:cNvSpPr/>
          <p:nvPr/>
        </p:nvSpPr>
        <p:spPr>
          <a:xfrm>
            <a:off x="548640" y="1737360"/>
            <a:ext cx="10424160" cy="804672"/>
          </a:xfrm>
          <a:prstGeom prst="roundRect">
            <a:avLst>
              <a:gd name="adj" fmla="val 9091"/>
            </a:avLst>
          </a:prstGeom>
          <a:solidFill>
            <a:srgbClr val="FFFFFF"/>
          </a:solidFill>
          <a:ln/>
          <a:effectLst>
            <a:outerShdw blurRad="63500" dist="25400" dir="5400000" algn="bl" rotWithShape="0">
              <a:srgbClr val="1B1F3B">
                <a:alpha val="8000"/>
              </a:srgbClr>
            </a:outerShdw>
          </a:effectLst>
        </p:spPr>
      </p:sp>
      <p:sp>
        <p:nvSpPr>
          <p:cNvPr id="7" name="Shape 4"/>
          <p:cNvSpPr/>
          <p:nvPr/>
        </p:nvSpPr>
        <p:spPr>
          <a:xfrm>
            <a:off x="777240" y="2002536"/>
            <a:ext cx="274320" cy="274320"/>
          </a:xfrm>
          <a:prstGeom prst="ellipse">
            <a:avLst/>
          </a:prstGeom>
          <a:solidFill>
            <a:srgbClr val="02C39A"/>
          </a:solidFill>
          <a:ln/>
        </p:spPr>
      </p:sp>
      <p:sp>
        <p:nvSpPr>
          <p:cNvPr id="8" name="Text 5"/>
          <p:cNvSpPr/>
          <p:nvPr/>
        </p:nvSpPr>
        <p:spPr>
          <a:xfrm>
            <a:off x="777240" y="2002536"/>
            <a:ext cx="274320" cy="27432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6"/>
          <p:cNvSpPr/>
          <p:nvPr/>
        </p:nvSpPr>
        <p:spPr>
          <a:xfrm>
            <a:off x="1234440" y="1737360"/>
            <a:ext cx="2606040" cy="804672"/>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Confidential Computing</a:t>
            </a:r>
            <a:endParaRPr lang="en-US" sz="1300" dirty="0"/>
          </a:p>
        </p:txBody>
      </p:sp>
      <p:sp>
        <p:nvSpPr>
          <p:cNvPr id="10" name="Text 7"/>
          <p:cNvSpPr/>
          <p:nvPr/>
        </p:nvSpPr>
        <p:spPr>
          <a:xfrm>
            <a:off x="3886200" y="1737360"/>
            <a:ext cx="6858000" cy="804672"/>
          </a:xfrm>
          <a:prstGeom prst="rect">
            <a:avLst/>
          </a:prstGeom>
          <a:noFill/>
          <a:ln/>
        </p:spPr>
        <p:txBody>
          <a:bodyPr wrap="square" rtlCol="0" anchor="ctr"/>
          <a:lstStyle/>
          <a:p>
            <a:pPr marL="0" indent="0">
              <a:lnSpc>
                <a:spcPct val="115000"/>
              </a:lnSpc>
              <a:buNone/>
            </a:pPr>
            <a:r>
              <a:rPr lang="en-US" sz="1150" dirty="0">
                <a:solidFill>
                  <a:srgbClr val="5B6178"/>
                </a:solidFill>
                <a:latin typeface="Calibri" pitchFamily="34" charset="0"/>
                <a:ea typeface="Calibri" pitchFamily="34" charset="-122"/>
                <a:cs typeface="Calibri" pitchFamily="34" charset="-120"/>
              </a:rPr>
              <a:t>Hardware-based secure enclaves (e.g. Intel SGX, AWS Nitro) process data in memory while it stays encrypted.</a:t>
            </a:r>
            <a:endParaRPr lang="en-US" sz="1150" dirty="0"/>
          </a:p>
        </p:txBody>
      </p:sp>
      <p:sp>
        <p:nvSpPr>
          <p:cNvPr id="11" name="Shape 8"/>
          <p:cNvSpPr/>
          <p:nvPr/>
        </p:nvSpPr>
        <p:spPr>
          <a:xfrm>
            <a:off x="548640" y="2670048"/>
            <a:ext cx="10424160" cy="804672"/>
          </a:xfrm>
          <a:prstGeom prst="roundRect">
            <a:avLst>
              <a:gd name="adj" fmla="val 9091"/>
            </a:avLst>
          </a:prstGeom>
          <a:solidFill>
            <a:srgbClr val="FFFFFF"/>
          </a:solidFill>
          <a:ln/>
          <a:effectLst>
            <a:outerShdw blurRad="63500" dist="25400" dir="5400000" algn="bl" rotWithShape="0">
              <a:srgbClr val="1B1F3B">
                <a:alpha val="8000"/>
              </a:srgbClr>
            </a:outerShdw>
          </a:effectLst>
        </p:spPr>
      </p:sp>
      <p:sp>
        <p:nvSpPr>
          <p:cNvPr id="12" name="Shape 9"/>
          <p:cNvSpPr/>
          <p:nvPr/>
        </p:nvSpPr>
        <p:spPr>
          <a:xfrm>
            <a:off x="777240" y="2935224"/>
            <a:ext cx="274320" cy="274320"/>
          </a:xfrm>
          <a:prstGeom prst="ellipse">
            <a:avLst/>
          </a:prstGeom>
          <a:solidFill>
            <a:srgbClr val="02C39A"/>
          </a:solidFill>
          <a:ln/>
        </p:spPr>
      </p:sp>
      <p:sp>
        <p:nvSpPr>
          <p:cNvPr id="13" name="Text 10"/>
          <p:cNvSpPr/>
          <p:nvPr/>
        </p:nvSpPr>
        <p:spPr>
          <a:xfrm>
            <a:off x="777240" y="2935224"/>
            <a:ext cx="274320" cy="27432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1"/>
          <p:cNvSpPr/>
          <p:nvPr/>
        </p:nvSpPr>
        <p:spPr>
          <a:xfrm>
            <a:off x="1234440" y="2670048"/>
            <a:ext cx="2606040" cy="804672"/>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Synthetic Data</a:t>
            </a:r>
            <a:endParaRPr lang="en-US" sz="1300" dirty="0"/>
          </a:p>
        </p:txBody>
      </p:sp>
      <p:sp>
        <p:nvSpPr>
          <p:cNvPr id="15" name="Text 12"/>
          <p:cNvSpPr/>
          <p:nvPr/>
        </p:nvSpPr>
        <p:spPr>
          <a:xfrm>
            <a:off x="3886200" y="2670048"/>
            <a:ext cx="6858000" cy="804672"/>
          </a:xfrm>
          <a:prstGeom prst="rect">
            <a:avLst/>
          </a:prstGeom>
          <a:noFill/>
          <a:ln/>
        </p:spPr>
        <p:txBody>
          <a:bodyPr wrap="square" rtlCol="0" anchor="ctr"/>
          <a:lstStyle/>
          <a:p>
            <a:pPr marL="0" indent="0">
              <a:lnSpc>
                <a:spcPct val="115000"/>
              </a:lnSpc>
              <a:buNone/>
            </a:pPr>
            <a:r>
              <a:rPr lang="en-US" sz="1150" dirty="0">
                <a:solidFill>
                  <a:srgbClr val="5B6178"/>
                </a:solidFill>
                <a:latin typeface="Calibri" pitchFamily="34" charset="0"/>
                <a:ea typeface="Calibri" pitchFamily="34" charset="-122"/>
                <a:cs typeface="Calibri" pitchFamily="34" charset="-120"/>
              </a:rPr>
              <a:t>AI-generated datasets that mimic real statistical patterns without containing any real individual's data.</a:t>
            </a:r>
            <a:endParaRPr lang="en-US" sz="1150" dirty="0"/>
          </a:p>
        </p:txBody>
      </p:sp>
      <p:sp>
        <p:nvSpPr>
          <p:cNvPr id="16" name="Shape 13"/>
          <p:cNvSpPr/>
          <p:nvPr/>
        </p:nvSpPr>
        <p:spPr>
          <a:xfrm>
            <a:off x="548640" y="3602736"/>
            <a:ext cx="10424160" cy="804672"/>
          </a:xfrm>
          <a:prstGeom prst="roundRect">
            <a:avLst>
              <a:gd name="adj" fmla="val 9091"/>
            </a:avLst>
          </a:prstGeom>
          <a:solidFill>
            <a:srgbClr val="FFFFFF"/>
          </a:solidFill>
          <a:ln/>
          <a:effectLst>
            <a:outerShdw blurRad="63500" dist="25400" dir="5400000" algn="bl" rotWithShape="0">
              <a:srgbClr val="1B1F3B">
                <a:alpha val="8000"/>
              </a:srgbClr>
            </a:outerShdw>
          </a:effectLst>
        </p:spPr>
      </p:sp>
      <p:sp>
        <p:nvSpPr>
          <p:cNvPr id="17" name="Shape 14"/>
          <p:cNvSpPr/>
          <p:nvPr/>
        </p:nvSpPr>
        <p:spPr>
          <a:xfrm>
            <a:off x="777240" y="3867912"/>
            <a:ext cx="274320" cy="274320"/>
          </a:xfrm>
          <a:prstGeom prst="ellipse">
            <a:avLst/>
          </a:prstGeom>
          <a:solidFill>
            <a:srgbClr val="02C39A"/>
          </a:solidFill>
          <a:ln/>
        </p:spPr>
      </p:sp>
      <p:sp>
        <p:nvSpPr>
          <p:cNvPr id="18" name="Text 15"/>
          <p:cNvSpPr/>
          <p:nvPr/>
        </p:nvSpPr>
        <p:spPr>
          <a:xfrm>
            <a:off x="777240" y="3867912"/>
            <a:ext cx="274320" cy="27432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9" name="Text 16"/>
          <p:cNvSpPr/>
          <p:nvPr/>
        </p:nvSpPr>
        <p:spPr>
          <a:xfrm>
            <a:off x="1234440" y="3602736"/>
            <a:ext cx="2606040" cy="804672"/>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Regulatory Push for PETs</a:t>
            </a:r>
            <a:endParaRPr lang="en-US" sz="1300" dirty="0"/>
          </a:p>
        </p:txBody>
      </p:sp>
      <p:sp>
        <p:nvSpPr>
          <p:cNvPr id="20" name="Text 17"/>
          <p:cNvSpPr/>
          <p:nvPr/>
        </p:nvSpPr>
        <p:spPr>
          <a:xfrm>
            <a:off x="3886200" y="3602736"/>
            <a:ext cx="6858000" cy="804672"/>
          </a:xfrm>
          <a:prstGeom prst="rect">
            <a:avLst/>
          </a:prstGeom>
          <a:noFill/>
          <a:ln/>
        </p:spPr>
        <p:txBody>
          <a:bodyPr wrap="square" rtlCol="0" anchor="ctr"/>
          <a:lstStyle/>
          <a:p>
            <a:pPr marL="0" indent="0">
              <a:lnSpc>
                <a:spcPct val="115000"/>
              </a:lnSpc>
              <a:buNone/>
            </a:pPr>
            <a:r>
              <a:rPr lang="en-US" sz="1150" dirty="0">
                <a:solidFill>
                  <a:srgbClr val="5B6178"/>
                </a:solidFill>
                <a:latin typeface="Calibri" pitchFamily="34" charset="0"/>
                <a:ea typeface="Calibri" pitchFamily="34" charset="-122"/>
                <a:cs typeface="Calibri" pitchFamily="34" charset="-120"/>
              </a:rPr>
              <a:t>Bodies such as the UK ICO and NIST now publish formal guidance encouraging PET adoption.</a:t>
            </a:r>
            <a:endParaRPr lang="en-US" sz="1150" dirty="0"/>
          </a:p>
        </p:txBody>
      </p:sp>
      <p:sp>
        <p:nvSpPr>
          <p:cNvPr id="21" name="Shape 18"/>
          <p:cNvSpPr/>
          <p:nvPr/>
        </p:nvSpPr>
        <p:spPr>
          <a:xfrm>
            <a:off x="548640" y="4535424"/>
            <a:ext cx="10424160" cy="804672"/>
          </a:xfrm>
          <a:prstGeom prst="roundRect">
            <a:avLst>
              <a:gd name="adj" fmla="val 9091"/>
            </a:avLst>
          </a:prstGeom>
          <a:solidFill>
            <a:srgbClr val="FFFFFF"/>
          </a:solidFill>
          <a:ln/>
          <a:effectLst>
            <a:outerShdw blurRad="63500" dist="25400" dir="5400000" algn="bl" rotWithShape="0">
              <a:srgbClr val="1B1F3B">
                <a:alpha val="8000"/>
              </a:srgbClr>
            </a:outerShdw>
          </a:effectLst>
        </p:spPr>
      </p:sp>
      <p:sp>
        <p:nvSpPr>
          <p:cNvPr id="22" name="Shape 19"/>
          <p:cNvSpPr/>
          <p:nvPr/>
        </p:nvSpPr>
        <p:spPr>
          <a:xfrm>
            <a:off x="777240" y="4800600"/>
            <a:ext cx="274320" cy="274320"/>
          </a:xfrm>
          <a:prstGeom prst="ellipse">
            <a:avLst/>
          </a:prstGeom>
          <a:solidFill>
            <a:srgbClr val="02C39A"/>
          </a:solidFill>
          <a:ln/>
        </p:spPr>
      </p:sp>
      <p:sp>
        <p:nvSpPr>
          <p:cNvPr id="23" name="Text 20"/>
          <p:cNvSpPr/>
          <p:nvPr/>
        </p:nvSpPr>
        <p:spPr>
          <a:xfrm>
            <a:off x="777240" y="4800600"/>
            <a:ext cx="274320" cy="27432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4" name="Text 21"/>
          <p:cNvSpPr/>
          <p:nvPr/>
        </p:nvSpPr>
        <p:spPr>
          <a:xfrm>
            <a:off x="1234440" y="4535424"/>
            <a:ext cx="2606040" cy="804672"/>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Large-Scale Federated Learning</a:t>
            </a:r>
            <a:endParaRPr lang="en-US" sz="1300" dirty="0"/>
          </a:p>
        </p:txBody>
      </p:sp>
      <p:sp>
        <p:nvSpPr>
          <p:cNvPr id="25" name="Text 22"/>
          <p:cNvSpPr/>
          <p:nvPr/>
        </p:nvSpPr>
        <p:spPr>
          <a:xfrm>
            <a:off x="3886200" y="4535424"/>
            <a:ext cx="6858000" cy="804672"/>
          </a:xfrm>
          <a:prstGeom prst="rect">
            <a:avLst/>
          </a:prstGeom>
          <a:noFill/>
          <a:ln/>
        </p:spPr>
        <p:txBody>
          <a:bodyPr wrap="square" rtlCol="0" anchor="ctr"/>
          <a:lstStyle/>
          <a:p>
            <a:pPr marL="0" indent="0">
              <a:lnSpc>
                <a:spcPct val="115000"/>
              </a:lnSpc>
              <a:buNone/>
            </a:pPr>
            <a:r>
              <a:rPr lang="en-US" sz="1150" dirty="0">
                <a:solidFill>
                  <a:srgbClr val="5B6178"/>
                </a:solidFill>
                <a:latin typeface="Calibri" pitchFamily="34" charset="0"/>
                <a:ea typeface="Calibri" pitchFamily="34" charset="-122"/>
                <a:cs typeface="Calibri" pitchFamily="34" charset="-120"/>
              </a:rPr>
              <a:t>Tech firms deploy federated learning across millions of devices for on-device AI personalization.</a:t>
            </a:r>
            <a:endParaRPr lang="en-US" sz="1150" dirty="0"/>
          </a:p>
        </p:txBody>
      </p:sp>
      <p:sp>
        <p:nvSpPr>
          <p:cNvPr id="26" name="Shape 23"/>
          <p:cNvSpPr/>
          <p:nvPr/>
        </p:nvSpPr>
        <p:spPr>
          <a:xfrm>
            <a:off x="548640" y="5468112"/>
            <a:ext cx="10424160" cy="804672"/>
          </a:xfrm>
          <a:prstGeom prst="roundRect">
            <a:avLst>
              <a:gd name="adj" fmla="val 9091"/>
            </a:avLst>
          </a:prstGeom>
          <a:solidFill>
            <a:srgbClr val="FFFFFF"/>
          </a:solidFill>
          <a:ln/>
          <a:effectLst>
            <a:outerShdw blurRad="63500" dist="25400" dir="5400000" algn="bl" rotWithShape="0">
              <a:srgbClr val="1B1F3B">
                <a:alpha val="8000"/>
              </a:srgbClr>
            </a:outerShdw>
          </a:effectLst>
        </p:spPr>
      </p:sp>
      <p:sp>
        <p:nvSpPr>
          <p:cNvPr id="27" name="Shape 24"/>
          <p:cNvSpPr/>
          <p:nvPr/>
        </p:nvSpPr>
        <p:spPr>
          <a:xfrm>
            <a:off x="777240" y="5733288"/>
            <a:ext cx="274320" cy="274320"/>
          </a:xfrm>
          <a:prstGeom prst="ellipse">
            <a:avLst/>
          </a:prstGeom>
          <a:solidFill>
            <a:srgbClr val="02C39A"/>
          </a:solidFill>
          <a:ln/>
        </p:spPr>
      </p:sp>
      <p:sp>
        <p:nvSpPr>
          <p:cNvPr id="28" name="Text 25"/>
          <p:cNvSpPr/>
          <p:nvPr/>
        </p:nvSpPr>
        <p:spPr>
          <a:xfrm>
            <a:off x="777240" y="5733288"/>
            <a:ext cx="274320" cy="27432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9" name="Text 26"/>
          <p:cNvSpPr/>
          <p:nvPr/>
        </p:nvSpPr>
        <p:spPr>
          <a:xfrm>
            <a:off x="1234440" y="5468112"/>
            <a:ext cx="2606040" cy="804672"/>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Open PET Ecosystems</a:t>
            </a:r>
            <a:endParaRPr lang="en-US" sz="1300" dirty="0"/>
          </a:p>
        </p:txBody>
      </p:sp>
      <p:sp>
        <p:nvSpPr>
          <p:cNvPr id="30" name="Text 27"/>
          <p:cNvSpPr/>
          <p:nvPr/>
        </p:nvSpPr>
        <p:spPr>
          <a:xfrm>
            <a:off x="3886200" y="5468112"/>
            <a:ext cx="6858000" cy="804672"/>
          </a:xfrm>
          <a:prstGeom prst="rect">
            <a:avLst/>
          </a:prstGeom>
          <a:noFill/>
          <a:ln/>
        </p:spPr>
        <p:txBody>
          <a:bodyPr wrap="square" rtlCol="0" anchor="ctr"/>
          <a:lstStyle/>
          <a:p>
            <a:pPr marL="0" indent="0">
              <a:lnSpc>
                <a:spcPct val="115000"/>
              </a:lnSpc>
              <a:buNone/>
            </a:pPr>
            <a:r>
              <a:rPr lang="en-US" sz="1150" dirty="0">
                <a:solidFill>
                  <a:srgbClr val="5B6178"/>
                </a:solidFill>
                <a:latin typeface="Calibri" pitchFamily="34" charset="0"/>
                <a:ea typeface="Calibri" pitchFamily="34" charset="-122"/>
                <a:cs typeface="Calibri" pitchFamily="34" charset="-120"/>
              </a:rPr>
              <a:t>Communities like OpenMined and PET consortiums are building open-source, standardized tooling.</a:t>
            </a:r>
            <a:endParaRPr lang="en-US" sz="1150" dirty="0"/>
          </a:p>
        </p:txBody>
      </p:sp>
      <p:sp>
        <p:nvSpPr>
          <p:cNvPr id="31" name="Text 28"/>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08  ·  ROAD AHEAD</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Challenges and Future Scope</a:t>
            </a:r>
            <a:endParaRPr lang="en-US" sz="3000" dirty="0"/>
          </a:p>
        </p:txBody>
      </p:sp>
      <p:sp>
        <p:nvSpPr>
          <p:cNvPr id="4" name="Shape 2"/>
          <p:cNvSpPr/>
          <p:nvPr/>
        </p:nvSpPr>
        <p:spPr>
          <a:xfrm>
            <a:off x="9692640" y="502920"/>
            <a:ext cx="1371600" cy="1371600"/>
          </a:xfrm>
          <a:prstGeom prst="ellipse">
            <a:avLst/>
          </a:prstGeom>
          <a:solidFill>
            <a:srgbClr val="02C39A"/>
          </a:solidFill>
          <a:ln/>
        </p:spPr>
      </p:sp>
      <p:pic>
        <p:nvPicPr>
          <p:cNvPr id="5" name="Image 0" descr="/home/claude/pet_ppt/road.png"/>
          <p:cNvPicPr>
            <a:picLocks noChangeAspect="1"/>
          </p:cNvPicPr>
          <p:nvPr/>
        </p:nvPicPr>
        <p:blipFill>
          <a:blip r:embed="rId3"/>
          <a:stretch>
            <a:fillRect/>
          </a:stretch>
        </p:blipFill>
        <p:spPr>
          <a:xfrm>
            <a:off x="9870948" y="681228"/>
            <a:ext cx="1014984" cy="1014984"/>
          </a:xfrm>
          <a:prstGeom prst="rect">
            <a:avLst/>
          </a:prstGeom>
        </p:spPr>
      </p:pic>
      <p:sp>
        <p:nvSpPr>
          <p:cNvPr id="6" name="Shape 3"/>
          <p:cNvSpPr/>
          <p:nvPr/>
        </p:nvSpPr>
        <p:spPr>
          <a:xfrm>
            <a:off x="548640" y="1691640"/>
            <a:ext cx="5074920" cy="4297680"/>
          </a:xfrm>
          <a:prstGeom prst="roundRect">
            <a:avLst>
              <a:gd name="adj" fmla="val 1702"/>
            </a:avLst>
          </a:prstGeom>
          <a:solidFill>
            <a:srgbClr val="1E2761"/>
          </a:solidFill>
          <a:ln/>
        </p:spPr>
      </p:sp>
      <p:sp>
        <p:nvSpPr>
          <p:cNvPr id="7" name="Text 4"/>
          <p:cNvSpPr/>
          <p:nvPr/>
        </p:nvSpPr>
        <p:spPr>
          <a:xfrm>
            <a:off x="822960" y="1874520"/>
            <a:ext cx="4572000" cy="365760"/>
          </a:xfrm>
          <a:prstGeom prst="rect">
            <a:avLst/>
          </a:prstGeom>
          <a:noFill/>
          <a:ln/>
        </p:spPr>
        <p:txBody>
          <a:bodyPr wrap="square" rtlCol="0" anchor="ctr"/>
          <a:lstStyle/>
          <a:p>
            <a:pPr marL="0" indent="0">
              <a:buNone/>
            </a:pPr>
            <a:r>
              <a:rPr lang="en-US" sz="1400" b="1" kern="0" spc="150" dirty="0">
                <a:solidFill>
                  <a:srgbClr val="02C39A"/>
                </a:solidFill>
                <a:latin typeface="Calibri" pitchFamily="34" charset="0"/>
                <a:ea typeface="Calibri" pitchFamily="34" charset="-122"/>
                <a:cs typeface="Calibri" pitchFamily="34" charset="-120"/>
              </a:rPr>
              <a:t>CURRENT CHALLENGES</a:t>
            </a:r>
            <a:endParaRPr lang="en-US" sz="1400" dirty="0"/>
          </a:p>
        </p:txBody>
      </p:sp>
      <p:sp>
        <p:nvSpPr>
          <p:cNvPr id="8" name="Text 5"/>
          <p:cNvSpPr/>
          <p:nvPr/>
        </p:nvSpPr>
        <p:spPr>
          <a:xfrm>
            <a:off x="822960" y="2377440"/>
            <a:ext cx="274320" cy="502920"/>
          </a:xfrm>
          <a:prstGeom prst="rect">
            <a:avLst/>
          </a:prstGeom>
          <a:noFill/>
          <a:ln/>
        </p:spPr>
        <p:txBody>
          <a:bodyPr wrap="square" rtlCol="0" anchor="ctr"/>
          <a:lstStyle/>
          <a:p>
            <a:pPr marL="0" indent="0">
              <a:buNone/>
            </a:pPr>
            <a:r>
              <a:rPr lang="en-US" sz="1600" b="1" dirty="0">
                <a:solidFill>
                  <a:srgbClr val="02C39A"/>
                </a:solidFill>
              </a:rPr>
              <a:t>•</a:t>
            </a:r>
            <a:endParaRPr lang="en-US" sz="1600" dirty="0"/>
          </a:p>
        </p:txBody>
      </p:sp>
      <p:sp>
        <p:nvSpPr>
          <p:cNvPr id="9" name="Text 6"/>
          <p:cNvSpPr/>
          <p:nvPr/>
        </p:nvSpPr>
        <p:spPr>
          <a:xfrm>
            <a:off x="1097280" y="2377440"/>
            <a:ext cx="4343400" cy="640080"/>
          </a:xfrm>
          <a:prstGeom prst="rect">
            <a:avLst/>
          </a:prstGeom>
          <a:noFill/>
          <a:ln/>
        </p:spPr>
        <p:txBody>
          <a:bodyPr wrap="square" rtlCol="0" anchor="t"/>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Performance overhead limits real-time, large-scale use</a:t>
            </a:r>
            <a:endParaRPr lang="en-US" sz="1250" dirty="0"/>
          </a:p>
        </p:txBody>
      </p:sp>
      <p:sp>
        <p:nvSpPr>
          <p:cNvPr id="10" name="Text 7"/>
          <p:cNvSpPr/>
          <p:nvPr/>
        </p:nvSpPr>
        <p:spPr>
          <a:xfrm>
            <a:off x="822960" y="3182112"/>
            <a:ext cx="274320" cy="502920"/>
          </a:xfrm>
          <a:prstGeom prst="rect">
            <a:avLst/>
          </a:prstGeom>
          <a:noFill/>
          <a:ln/>
        </p:spPr>
        <p:txBody>
          <a:bodyPr wrap="square" rtlCol="0" anchor="ctr"/>
          <a:lstStyle/>
          <a:p>
            <a:pPr marL="0" indent="0">
              <a:buNone/>
            </a:pPr>
            <a:r>
              <a:rPr lang="en-US" sz="1600" b="1" dirty="0">
                <a:solidFill>
                  <a:srgbClr val="02C39A"/>
                </a:solidFill>
              </a:rPr>
              <a:t>•</a:t>
            </a:r>
            <a:endParaRPr lang="en-US" sz="1600" dirty="0"/>
          </a:p>
        </p:txBody>
      </p:sp>
      <p:sp>
        <p:nvSpPr>
          <p:cNvPr id="11" name="Text 8"/>
          <p:cNvSpPr/>
          <p:nvPr/>
        </p:nvSpPr>
        <p:spPr>
          <a:xfrm>
            <a:off x="1097280" y="3182112"/>
            <a:ext cx="4343400" cy="640080"/>
          </a:xfrm>
          <a:prstGeom prst="rect">
            <a:avLst/>
          </a:prstGeom>
          <a:noFill/>
          <a:ln/>
        </p:spPr>
        <p:txBody>
          <a:bodyPr wrap="square" rtlCol="0" anchor="t"/>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Complex key and parameter management</a:t>
            </a:r>
            <a:endParaRPr lang="en-US" sz="1250" dirty="0"/>
          </a:p>
        </p:txBody>
      </p:sp>
      <p:sp>
        <p:nvSpPr>
          <p:cNvPr id="12" name="Text 9"/>
          <p:cNvSpPr/>
          <p:nvPr/>
        </p:nvSpPr>
        <p:spPr>
          <a:xfrm>
            <a:off x="822960" y="3986784"/>
            <a:ext cx="274320" cy="502920"/>
          </a:xfrm>
          <a:prstGeom prst="rect">
            <a:avLst/>
          </a:prstGeom>
          <a:noFill/>
          <a:ln/>
        </p:spPr>
        <p:txBody>
          <a:bodyPr wrap="square" rtlCol="0" anchor="ctr"/>
          <a:lstStyle/>
          <a:p>
            <a:pPr marL="0" indent="0">
              <a:buNone/>
            </a:pPr>
            <a:r>
              <a:rPr lang="en-US" sz="1600" b="1" dirty="0">
                <a:solidFill>
                  <a:srgbClr val="02C39A"/>
                </a:solidFill>
              </a:rPr>
              <a:t>•</a:t>
            </a:r>
            <a:endParaRPr lang="en-US" sz="1600" dirty="0"/>
          </a:p>
        </p:txBody>
      </p:sp>
      <p:sp>
        <p:nvSpPr>
          <p:cNvPr id="13" name="Text 10"/>
          <p:cNvSpPr/>
          <p:nvPr/>
        </p:nvSpPr>
        <p:spPr>
          <a:xfrm>
            <a:off x="1097280" y="3986784"/>
            <a:ext cx="4343400" cy="640080"/>
          </a:xfrm>
          <a:prstGeom prst="rect">
            <a:avLst/>
          </a:prstGeom>
          <a:noFill/>
          <a:ln/>
        </p:spPr>
        <p:txBody>
          <a:bodyPr wrap="square" rtlCol="0" anchor="t"/>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Poor interoperability between different PET systems</a:t>
            </a:r>
            <a:endParaRPr lang="en-US" sz="1250" dirty="0"/>
          </a:p>
        </p:txBody>
      </p:sp>
      <p:sp>
        <p:nvSpPr>
          <p:cNvPr id="14" name="Text 11"/>
          <p:cNvSpPr/>
          <p:nvPr/>
        </p:nvSpPr>
        <p:spPr>
          <a:xfrm>
            <a:off x="822960" y="4791456"/>
            <a:ext cx="274320" cy="502920"/>
          </a:xfrm>
          <a:prstGeom prst="rect">
            <a:avLst/>
          </a:prstGeom>
          <a:noFill/>
          <a:ln/>
        </p:spPr>
        <p:txBody>
          <a:bodyPr wrap="square" rtlCol="0" anchor="ctr"/>
          <a:lstStyle/>
          <a:p>
            <a:pPr marL="0" indent="0">
              <a:buNone/>
            </a:pPr>
            <a:r>
              <a:rPr lang="en-US" sz="1600" b="1" dirty="0">
                <a:solidFill>
                  <a:srgbClr val="02C39A"/>
                </a:solidFill>
              </a:rPr>
              <a:t>•</a:t>
            </a:r>
            <a:endParaRPr lang="en-US" sz="1600" dirty="0"/>
          </a:p>
        </p:txBody>
      </p:sp>
      <p:sp>
        <p:nvSpPr>
          <p:cNvPr id="15" name="Text 12"/>
          <p:cNvSpPr/>
          <p:nvPr/>
        </p:nvSpPr>
        <p:spPr>
          <a:xfrm>
            <a:off x="1097280" y="4791456"/>
            <a:ext cx="4343400" cy="640080"/>
          </a:xfrm>
          <a:prstGeom prst="rect">
            <a:avLst/>
          </a:prstGeom>
          <a:noFill/>
          <a:ln/>
        </p:spPr>
        <p:txBody>
          <a:bodyPr wrap="square" rtlCol="0" anchor="t"/>
          <a:lstStyle/>
          <a:p>
            <a:pPr marL="0" indent="0">
              <a:lnSpc>
                <a:spcPct val="120000"/>
              </a:lnSpc>
              <a:buNone/>
            </a:pPr>
            <a:r>
              <a:rPr lang="en-US" sz="1250" dirty="0">
                <a:solidFill>
                  <a:srgbClr val="FFFFFF"/>
                </a:solidFill>
                <a:latin typeface="Calibri" pitchFamily="34" charset="0"/>
                <a:ea typeface="Calibri" pitchFamily="34" charset="-122"/>
                <a:cs typeface="Calibri" pitchFamily="34" charset="-120"/>
              </a:rPr>
              <a:t>Shortage of skilled privacy-engineering talent</a:t>
            </a:r>
            <a:endParaRPr lang="en-US" sz="1250" dirty="0"/>
          </a:p>
        </p:txBody>
      </p:sp>
      <p:sp>
        <p:nvSpPr>
          <p:cNvPr id="16" name="Shape 13"/>
          <p:cNvSpPr/>
          <p:nvPr/>
        </p:nvSpPr>
        <p:spPr>
          <a:xfrm>
            <a:off x="5760720" y="1691640"/>
            <a:ext cx="5074920" cy="4297680"/>
          </a:xfrm>
          <a:prstGeom prst="roundRect">
            <a:avLst>
              <a:gd name="adj" fmla="val 1702"/>
            </a:avLst>
          </a:prstGeom>
          <a:solidFill>
            <a:srgbClr val="02C39A"/>
          </a:solidFill>
          <a:ln/>
        </p:spPr>
      </p:sp>
      <p:sp>
        <p:nvSpPr>
          <p:cNvPr id="17" name="Text 14"/>
          <p:cNvSpPr/>
          <p:nvPr/>
        </p:nvSpPr>
        <p:spPr>
          <a:xfrm>
            <a:off x="6035040" y="1874520"/>
            <a:ext cx="4572000" cy="365760"/>
          </a:xfrm>
          <a:prstGeom prst="rect">
            <a:avLst/>
          </a:prstGeom>
          <a:noFill/>
          <a:ln/>
        </p:spPr>
        <p:txBody>
          <a:bodyPr wrap="square" rtlCol="0" anchor="ctr"/>
          <a:lstStyle/>
          <a:p>
            <a:pPr marL="0" indent="0">
              <a:buNone/>
            </a:pPr>
            <a:r>
              <a:rPr lang="en-US" sz="1400" b="1" kern="0" spc="150" dirty="0">
                <a:solidFill>
                  <a:srgbClr val="141A45"/>
                </a:solidFill>
                <a:latin typeface="Calibri" pitchFamily="34" charset="0"/>
                <a:ea typeface="Calibri" pitchFamily="34" charset="-122"/>
                <a:cs typeface="Calibri" pitchFamily="34" charset="-120"/>
              </a:rPr>
              <a:t>FUTURE SCOPE</a:t>
            </a:r>
            <a:endParaRPr lang="en-US" sz="1400" dirty="0"/>
          </a:p>
        </p:txBody>
      </p:sp>
      <p:sp>
        <p:nvSpPr>
          <p:cNvPr id="18" name="Text 15"/>
          <p:cNvSpPr/>
          <p:nvPr/>
        </p:nvSpPr>
        <p:spPr>
          <a:xfrm>
            <a:off x="6035040" y="2377440"/>
            <a:ext cx="274320" cy="502920"/>
          </a:xfrm>
          <a:prstGeom prst="rect">
            <a:avLst/>
          </a:prstGeom>
          <a:noFill/>
          <a:ln/>
        </p:spPr>
        <p:txBody>
          <a:bodyPr wrap="square" rtlCol="0" anchor="ctr"/>
          <a:lstStyle/>
          <a:p>
            <a:pPr marL="0" indent="0">
              <a:buNone/>
            </a:pPr>
            <a:r>
              <a:rPr lang="en-US" sz="1600" b="1" dirty="0">
                <a:solidFill>
                  <a:srgbClr val="141A45"/>
                </a:solidFill>
              </a:rPr>
              <a:t>•</a:t>
            </a:r>
            <a:endParaRPr lang="en-US" sz="1600" dirty="0"/>
          </a:p>
        </p:txBody>
      </p:sp>
      <p:sp>
        <p:nvSpPr>
          <p:cNvPr id="19" name="Text 16"/>
          <p:cNvSpPr/>
          <p:nvPr/>
        </p:nvSpPr>
        <p:spPr>
          <a:xfrm>
            <a:off x="6309360" y="2377440"/>
            <a:ext cx="4343400" cy="640080"/>
          </a:xfrm>
          <a:prstGeom prst="rect">
            <a:avLst/>
          </a:prstGeom>
          <a:noFill/>
          <a:ln/>
        </p:spPr>
        <p:txBody>
          <a:bodyPr wrap="square" rtlCol="0" anchor="t"/>
          <a:lstStyle/>
          <a:p>
            <a:pPr marL="0" indent="0">
              <a:lnSpc>
                <a:spcPct val="120000"/>
              </a:lnSpc>
              <a:buNone/>
            </a:pPr>
            <a:r>
              <a:rPr lang="en-US" sz="1250" dirty="0">
                <a:solidFill>
                  <a:srgbClr val="141A45"/>
                </a:solidFill>
                <a:latin typeface="Calibri" pitchFamily="34" charset="0"/>
                <a:ea typeface="Calibri" pitchFamily="34" charset="-122"/>
                <a:cs typeface="Calibri" pitchFamily="34" charset="-120"/>
              </a:rPr>
              <a:t>Global standardization of PET protocols and benchmarks</a:t>
            </a:r>
            <a:endParaRPr lang="en-US" sz="1250" dirty="0"/>
          </a:p>
        </p:txBody>
      </p:sp>
      <p:sp>
        <p:nvSpPr>
          <p:cNvPr id="20" name="Text 17"/>
          <p:cNvSpPr/>
          <p:nvPr/>
        </p:nvSpPr>
        <p:spPr>
          <a:xfrm>
            <a:off x="6035040" y="3182112"/>
            <a:ext cx="274320" cy="502920"/>
          </a:xfrm>
          <a:prstGeom prst="rect">
            <a:avLst/>
          </a:prstGeom>
          <a:noFill/>
          <a:ln/>
        </p:spPr>
        <p:txBody>
          <a:bodyPr wrap="square" rtlCol="0" anchor="ctr"/>
          <a:lstStyle/>
          <a:p>
            <a:pPr marL="0" indent="0">
              <a:buNone/>
            </a:pPr>
            <a:r>
              <a:rPr lang="en-US" sz="1600" b="1" dirty="0">
                <a:solidFill>
                  <a:srgbClr val="141A45"/>
                </a:solidFill>
              </a:rPr>
              <a:t>•</a:t>
            </a:r>
            <a:endParaRPr lang="en-US" sz="1600" dirty="0"/>
          </a:p>
        </p:txBody>
      </p:sp>
      <p:sp>
        <p:nvSpPr>
          <p:cNvPr id="21" name="Text 18"/>
          <p:cNvSpPr/>
          <p:nvPr/>
        </p:nvSpPr>
        <p:spPr>
          <a:xfrm>
            <a:off x="6309360" y="3182112"/>
            <a:ext cx="4343400" cy="640080"/>
          </a:xfrm>
          <a:prstGeom prst="rect">
            <a:avLst/>
          </a:prstGeom>
          <a:noFill/>
          <a:ln/>
        </p:spPr>
        <p:txBody>
          <a:bodyPr wrap="square" rtlCol="0" anchor="t"/>
          <a:lstStyle/>
          <a:p>
            <a:pPr marL="0" indent="0">
              <a:lnSpc>
                <a:spcPct val="120000"/>
              </a:lnSpc>
              <a:buNone/>
            </a:pPr>
            <a:r>
              <a:rPr lang="en-US" sz="1250" dirty="0">
                <a:solidFill>
                  <a:srgbClr val="141A45"/>
                </a:solidFill>
                <a:latin typeface="Calibri" pitchFamily="34" charset="0"/>
                <a:ea typeface="Calibri" pitchFamily="34" charset="-122"/>
                <a:cs typeface="Calibri" pitchFamily="34" charset="-120"/>
              </a:rPr>
              <a:t>Tighter integration with AI governance and regulation</a:t>
            </a:r>
            <a:endParaRPr lang="en-US" sz="1250" dirty="0"/>
          </a:p>
        </p:txBody>
      </p:sp>
      <p:sp>
        <p:nvSpPr>
          <p:cNvPr id="22" name="Text 19"/>
          <p:cNvSpPr/>
          <p:nvPr/>
        </p:nvSpPr>
        <p:spPr>
          <a:xfrm>
            <a:off x="6035040" y="3986784"/>
            <a:ext cx="274320" cy="502920"/>
          </a:xfrm>
          <a:prstGeom prst="rect">
            <a:avLst/>
          </a:prstGeom>
          <a:noFill/>
          <a:ln/>
        </p:spPr>
        <p:txBody>
          <a:bodyPr wrap="square" rtlCol="0" anchor="ctr"/>
          <a:lstStyle/>
          <a:p>
            <a:pPr marL="0" indent="0">
              <a:buNone/>
            </a:pPr>
            <a:r>
              <a:rPr lang="en-US" sz="1600" b="1" dirty="0">
                <a:solidFill>
                  <a:srgbClr val="141A45"/>
                </a:solidFill>
              </a:rPr>
              <a:t>•</a:t>
            </a:r>
            <a:endParaRPr lang="en-US" sz="1600" dirty="0"/>
          </a:p>
        </p:txBody>
      </p:sp>
      <p:sp>
        <p:nvSpPr>
          <p:cNvPr id="23" name="Text 20"/>
          <p:cNvSpPr/>
          <p:nvPr/>
        </p:nvSpPr>
        <p:spPr>
          <a:xfrm>
            <a:off x="6309360" y="3986784"/>
            <a:ext cx="4343400" cy="640080"/>
          </a:xfrm>
          <a:prstGeom prst="rect">
            <a:avLst/>
          </a:prstGeom>
          <a:noFill/>
          <a:ln/>
        </p:spPr>
        <p:txBody>
          <a:bodyPr wrap="square" rtlCol="0" anchor="t"/>
          <a:lstStyle/>
          <a:p>
            <a:pPr marL="0" indent="0">
              <a:lnSpc>
                <a:spcPct val="120000"/>
              </a:lnSpc>
              <a:buNone/>
            </a:pPr>
            <a:r>
              <a:rPr lang="en-US" sz="1250" dirty="0">
                <a:solidFill>
                  <a:srgbClr val="141A45"/>
                </a:solidFill>
                <a:latin typeface="Calibri" pitchFamily="34" charset="0"/>
                <a:ea typeface="Calibri" pitchFamily="34" charset="-122"/>
                <a:cs typeface="Calibri" pitchFamily="34" charset="-120"/>
              </a:rPr>
              <a:t>Privacy-by-design becoming the default in system architecture</a:t>
            </a:r>
            <a:endParaRPr lang="en-US" sz="1250" dirty="0"/>
          </a:p>
        </p:txBody>
      </p:sp>
      <p:sp>
        <p:nvSpPr>
          <p:cNvPr id="24" name="Text 21"/>
          <p:cNvSpPr/>
          <p:nvPr/>
        </p:nvSpPr>
        <p:spPr>
          <a:xfrm>
            <a:off x="6035040" y="4791456"/>
            <a:ext cx="274320" cy="502920"/>
          </a:xfrm>
          <a:prstGeom prst="rect">
            <a:avLst/>
          </a:prstGeom>
          <a:noFill/>
          <a:ln/>
        </p:spPr>
        <p:txBody>
          <a:bodyPr wrap="square" rtlCol="0" anchor="ctr"/>
          <a:lstStyle/>
          <a:p>
            <a:pPr marL="0" indent="0">
              <a:buNone/>
            </a:pPr>
            <a:r>
              <a:rPr lang="en-US" sz="1600" b="1" dirty="0">
                <a:solidFill>
                  <a:srgbClr val="141A45"/>
                </a:solidFill>
              </a:rPr>
              <a:t>•</a:t>
            </a:r>
            <a:endParaRPr lang="en-US" sz="1600" dirty="0"/>
          </a:p>
        </p:txBody>
      </p:sp>
      <p:sp>
        <p:nvSpPr>
          <p:cNvPr id="25" name="Text 22"/>
          <p:cNvSpPr/>
          <p:nvPr/>
        </p:nvSpPr>
        <p:spPr>
          <a:xfrm>
            <a:off x="6309360" y="4791456"/>
            <a:ext cx="4343400" cy="640080"/>
          </a:xfrm>
          <a:prstGeom prst="rect">
            <a:avLst/>
          </a:prstGeom>
          <a:noFill/>
          <a:ln/>
        </p:spPr>
        <p:txBody>
          <a:bodyPr wrap="square" rtlCol="0" anchor="t"/>
          <a:lstStyle/>
          <a:p>
            <a:pPr marL="0" indent="0">
              <a:lnSpc>
                <a:spcPct val="120000"/>
              </a:lnSpc>
              <a:buNone/>
            </a:pPr>
            <a:r>
              <a:rPr lang="en-US" sz="1250" dirty="0">
                <a:solidFill>
                  <a:srgbClr val="141A45"/>
                </a:solidFill>
                <a:latin typeface="Calibri" pitchFamily="34" charset="0"/>
                <a:ea typeface="Calibri" pitchFamily="34" charset="-122"/>
                <a:cs typeface="Calibri" pitchFamily="34" charset="-120"/>
              </a:rPr>
              <a:t>Broader adoption across Web3, blockchain, and edge computing</a:t>
            </a:r>
            <a:endParaRPr lang="en-US" sz="1250" dirty="0"/>
          </a:p>
        </p:txBody>
      </p:sp>
      <p:sp>
        <p:nvSpPr>
          <p:cNvPr id="26" name="Text 2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09  ·  CASE STUDY</a:t>
            </a:r>
            <a:endParaRPr lang="en-US" sz="1200" dirty="0"/>
          </a:p>
        </p:txBody>
      </p:sp>
      <p:sp>
        <p:nvSpPr>
          <p:cNvPr id="3" name="Text 1"/>
          <p:cNvSpPr/>
          <p:nvPr/>
        </p:nvSpPr>
        <p:spPr>
          <a:xfrm>
            <a:off x="548640" y="749808"/>
            <a:ext cx="10515600" cy="64008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Case Study: US Census Bureau, 2020</a:t>
            </a:r>
            <a:endParaRPr lang="en-US" sz="3000" dirty="0"/>
          </a:p>
        </p:txBody>
      </p:sp>
      <p:sp>
        <p:nvSpPr>
          <p:cNvPr id="4" name="Shape 2"/>
          <p:cNvSpPr/>
          <p:nvPr/>
        </p:nvSpPr>
        <p:spPr>
          <a:xfrm>
            <a:off x="9692640" y="502920"/>
            <a:ext cx="1371600" cy="1371600"/>
          </a:xfrm>
          <a:prstGeom prst="ellipse">
            <a:avLst/>
          </a:prstGeom>
          <a:solidFill>
            <a:srgbClr val="02C39A"/>
          </a:solidFill>
          <a:ln/>
        </p:spPr>
      </p:sp>
      <p:pic>
        <p:nvPicPr>
          <p:cNvPr id="5" name="Image 0" descr="/home/claude/pet_ppt/case.png"/>
          <p:cNvPicPr>
            <a:picLocks noChangeAspect="1"/>
          </p:cNvPicPr>
          <p:nvPr/>
        </p:nvPicPr>
        <p:blipFill>
          <a:blip r:embed="rId3"/>
          <a:stretch>
            <a:fillRect/>
          </a:stretch>
        </p:blipFill>
        <p:spPr>
          <a:xfrm>
            <a:off x="9870948" y="681228"/>
            <a:ext cx="1014984" cy="1014984"/>
          </a:xfrm>
          <a:prstGeom prst="rect">
            <a:avLst/>
          </a:prstGeom>
        </p:spPr>
      </p:pic>
      <p:sp>
        <p:nvSpPr>
          <p:cNvPr id="6" name="Text 3"/>
          <p:cNvSpPr/>
          <p:nvPr/>
        </p:nvSpPr>
        <p:spPr>
          <a:xfrm>
            <a:off x="548640" y="1645920"/>
            <a:ext cx="10424160" cy="777240"/>
          </a:xfrm>
          <a:prstGeom prst="rect">
            <a:avLst/>
          </a:prstGeom>
          <a:noFill/>
          <a:ln/>
        </p:spPr>
        <p:txBody>
          <a:bodyPr wrap="square" rtlCol="0" anchor="ctr"/>
          <a:lstStyle/>
          <a:p>
            <a:pPr marL="0" indent="0">
              <a:lnSpc>
                <a:spcPct val="125000"/>
              </a:lnSpc>
              <a:buNone/>
            </a:pPr>
            <a:r>
              <a:rPr lang="en-US" sz="1450" dirty="0">
                <a:solidFill>
                  <a:srgbClr val="1B1F3B"/>
                </a:solidFill>
                <a:latin typeface="Calibri" pitchFamily="34" charset="0"/>
                <a:ea typeface="Calibri" pitchFamily="34" charset="-122"/>
                <a:cs typeface="Calibri" pitchFamily="34" charset="-120"/>
              </a:rPr>
              <a:t>For the 2020 Census, the U.S. Census Bureau adopted a Disclosure Avoidance System built on differential privacy — the first time a national census used this technique at full scale.</a:t>
            </a:r>
            <a:endParaRPr lang="en-US" sz="1450" dirty="0"/>
          </a:p>
        </p:txBody>
      </p:sp>
      <p:sp>
        <p:nvSpPr>
          <p:cNvPr id="7" name="Shape 4"/>
          <p:cNvSpPr/>
          <p:nvPr/>
        </p:nvSpPr>
        <p:spPr>
          <a:xfrm>
            <a:off x="548640" y="2606040"/>
            <a:ext cx="3401568" cy="2331720"/>
          </a:xfrm>
          <a:prstGeom prst="roundRect">
            <a:avLst>
              <a:gd name="adj" fmla="val 3137"/>
            </a:avLst>
          </a:prstGeom>
          <a:solidFill>
            <a:srgbClr val="FFFFFF"/>
          </a:solidFill>
          <a:ln/>
          <a:effectLst>
            <a:outerShdw blurRad="88900" dist="25400" dir="5400000" algn="bl" rotWithShape="0">
              <a:srgbClr val="1B1F3B">
                <a:alpha val="12000"/>
              </a:srgbClr>
            </a:outerShdw>
          </a:effectLst>
        </p:spPr>
      </p:sp>
      <p:sp>
        <p:nvSpPr>
          <p:cNvPr id="8" name="Shape 5"/>
          <p:cNvSpPr/>
          <p:nvPr/>
        </p:nvSpPr>
        <p:spPr>
          <a:xfrm>
            <a:off x="548640" y="2606040"/>
            <a:ext cx="3401568" cy="457200"/>
          </a:xfrm>
          <a:prstGeom prst="roundRect">
            <a:avLst/>
          </a:prstGeom>
          <a:solidFill>
            <a:srgbClr val="1E2761"/>
          </a:solidFill>
          <a:ln/>
        </p:spPr>
      </p:sp>
      <p:sp>
        <p:nvSpPr>
          <p:cNvPr id="9" name="Text 6"/>
          <p:cNvSpPr/>
          <p:nvPr/>
        </p:nvSpPr>
        <p:spPr>
          <a:xfrm>
            <a:off x="548640" y="2606040"/>
            <a:ext cx="3401568" cy="457200"/>
          </a:xfrm>
          <a:prstGeom prst="rect">
            <a:avLst/>
          </a:prstGeom>
          <a:noFill/>
          <a:ln/>
        </p:spPr>
        <p:txBody>
          <a:bodyPr wrap="square"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The Problem</a:t>
            </a:r>
            <a:endParaRPr lang="en-US" sz="1350" dirty="0"/>
          </a:p>
        </p:txBody>
      </p:sp>
      <p:sp>
        <p:nvSpPr>
          <p:cNvPr id="10" name="Text 7"/>
          <p:cNvSpPr/>
          <p:nvPr/>
        </p:nvSpPr>
        <p:spPr>
          <a:xfrm>
            <a:off x="749808" y="3200400"/>
            <a:ext cx="2999232" cy="1645920"/>
          </a:xfrm>
          <a:prstGeom prst="rect">
            <a:avLst/>
          </a:prstGeom>
          <a:noFill/>
          <a:ln/>
        </p:spPr>
        <p:txBody>
          <a:bodyPr wrap="square" rtlCol="0" anchor="ctr"/>
          <a:lstStyle/>
          <a:p>
            <a:pPr marL="0" indent="0">
              <a:lnSpc>
                <a:spcPct val="125000"/>
              </a:lnSpc>
              <a:buNone/>
            </a:pPr>
            <a:r>
              <a:rPr lang="en-US" sz="1150" dirty="0">
                <a:solidFill>
                  <a:srgbClr val="5B6178"/>
                </a:solidFill>
                <a:latin typeface="Calibri" pitchFamily="34" charset="0"/>
                <a:ea typeface="Calibri" pitchFamily="34" charset="-122"/>
                <a:cs typeface="Calibri" pitchFamily="34" charset="-120"/>
              </a:rPr>
              <a:t>Older anonymization methods could be reverse-engineered by cross-referencing published statistics, re-identifying individuals.</a:t>
            </a:r>
            <a:endParaRPr lang="en-US" sz="1150" dirty="0"/>
          </a:p>
        </p:txBody>
      </p:sp>
      <p:sp>
        <p:nvSpPr>
          <p:cNvPr id="11" name="Shape 8"/>
          <p:cNvSpPr/>
          <p:nvPr/>
        </p:nvSpPr>
        <p:spPr>
          <a:xfrm>
            <a:off x="4133088" y="2606040"/>
            <a:ext cx="3401568" cy="2331720"/>
          </a:xfrm>
          <a:prstGeom prst="roundRect">
            <a:avLst>
              <a:gd name="adj" fmla="val 3137"/>
            </a:avLst>
          </a:prstGeom>
          <a:solidFill>
            <a:srgbClr val="FFFFFF"/>
          </a:solidFill>
          <a:ln/>
          <a:effectLst>
            <a:outerShdw blurRad="88900" dist="25400" dir="5400000" algn="bl" rotWithShape="0">
              <a:srgbClr val="1B1F3B">
                <a:alpha val="12000"/>
              </a:srgbClr>
            </a:outerShdw>
          </a:effectLst>
        </p:spPr>
      </p:sp>
      <p:sp>
        <p:nvSpPr>
          <p:cNvPr id="12" name="Shape 9"/>
          <p:cNvSpPr/>
          <p:nvPr/>
        </p:nvSpPr>
        <p:spPr>
          <a:xfrm>
            <a:off x="4133088" y="2606040"/>
            <a:ext cx="3401568" cy="457200"/>
          </a:xfrm>
          <a:prstGeom prst="roundRect">
            <a:avLst/>
          </a:prstGeom>
          <a:solidFill>
            <a:srgbClr val="02C39A"/>
          </a:solidFill>
          <a:ln/>
        </p:spPr>
      </p:sp>
      <p:sp>
        <p:nvSpPr>
          <p:cNvPr id="13" name="Text 10"/>
          <p:cNvSpPr/>
          <p:nvPr/>
        </p:nvSpPr>
        <p:spPr>
          <a:xfrm>
            <a:off x="4133088" y="2606040"/>
            <a:ext cx="3401568" cy="457200"/>
          </a:xfrm>
          <a:prstGeom prst="rect">
            <a:avLst/>
          </a:prstGeom>
          <a:noFill/>
          <a:ln/>
        </p:spPr>
        <p:txBody>
          <a:bodyPr wrap="square" rtlCol="0" anchor="ctr"/>
          <a:lstStyle/>
          <a:p>
            <a:pPr marL="0" indent="0" algn="ctr">
              <a:buNone/>
            </a:pPr>
            <a:r>
              <a:rPr lang="en-US" sz="1350" b="1" dirty="0">
                <a:solidFill>
                  <a:srgbClr val="141A45"/>
                </a:solidFill>
                <a:latin typeface="Cambria" pitchFamily="34" charset="0"/>
                <a:ea typeface="Cambria" pitchFamily="34" charset="-122"/>
                <a:cs typeface="Cambria" pitchFamily="34" charset="-120"/>
              </a:rPr>
              <a:t>The Approach</a:t>
            </a:r>
            <a:endParaRPr lang="en-US" sz="1350" dirty="0"/>
          </a:p>
        </p:txBody>
      </p:sp>
      <p:sp>
        <p:nvSpPr>
          <p:cNvPr id="14" name="Text 11"/>
          <p:cNvSpPr/>
          <p:nvPr/>
        </p:nvSpPr>
        <p:spPr>
          <a:xfrm>
            <a:off x="4334256" y="3200400"/>
            <a:ext cx="2999232" cy="1645920"/>
          </a:xfrm>
          <a:prstGeom prst="rect">
            <a:avLst/>
          </a:prstGeom>
          <a:noFill/>
          <a:ln/>
        </p:spPr>
        <p:txBody>
          <a:bodyPr wrap="square" rtlCol="0" anchor="ctr"/>
          <a:lstStyle/>
          <a:p>
            <a:pPr marL="0" indent="0">
              <a:lnSpc>
                <a:spcPct val="125000"/>
              </a:lnSpc>
              <a:buNone/>
            </a:pPr>
            <a:r>
              <a:rPr lang="en-US" sz="1150" dirty="0">
                <a:solidFill>
                  <a:srgbClr val="5B6178"/>
                </a:solidFill>
                <a:latin typeface="Calibri" pitchFamily="34" charset="0"/>
                <a:ea typeface="Calibri" pitchFamily="34" charset="-122"/>
                <a:cs typeface="Calibri" pitchFamily="34" charset="-120"/>
              </a:rPr>
              <a:t>Calibrated statistical noise was injected into published counts, guaranteeing a formal, mathematical privacy budget per person.</a:t>
            </a:r>
            <a:endParaRPr lang="en-US" sz="1150" dirty="0"/>
          </a:p>
        </p:txBody>
      </p:sp>
      <p:sp>
        <p:nvSpPr>
          <p:cNvPr id="15" name="Shape 12"/>
          <p:cNvSpPr/>
          <p:nvPr/>
        </p:nvSpPr>
        <p:spPr>
          <a:xfrm>
            <a:off x="7717536" y="2606040"/>
            <a:ext cx="3401568" cy="2331720"/>
          </a:xfrm>
          <a:prstGeom prst="roundRect">
            <a:avLst>
              <a:gd name="adj" fmla="val 3137"/>
            </a:avLst>
          </a:prstGeom>
          <a:solidFill>
            <a:srgbClr val="FFFFFF"/>
          </a:solidFill>
          <a:ln/>
          <a:effectLst>
            <a:outerShdw blurRad="88900" dist="25400" dir="5400000" algn="bl" rotWithShape="0">
              <a:srgbClr val="1B1F3B">
                <a:alpha val="12000"/>
              </a:srgbClr>
            </a:outerShdw>
          </a:effectLst>
        </p:spPr>
      </p:sp>
      <p:sp>
        <p:nvSpPr>
          <p:cNvPr id="16" name="Shape 13"/>
          <p:cNvSpPr/>
          <p:nvPr/>
        </p:nvSpPr>
        <p:spPr>
          <a:xfrm>
            <a:off x="7717536" y="2606040"/>
            <a:ext cx="3401568" cy="457200"/>
          </a:xfrm>
          <a:prstGeom prst="roundRect">
            <a:avLst/>
          </a:prstGeom>
          <a:solidFill>
            <a:srgbClr val="1E2761"/>
          </a:solidFill>
          <a:ln/>
        </p:spPr>
      </p:sp>
      <p:sp>
        <p:nvSpPr>
          <p:cNvPr id="17" name="Text 14"/>
          <p:cNvSpPr/>
          <p:nvPr/>
        </p:nvSpPr>
        <p:spPr>
          <a:xfrm>
            <a:off x="7717536" y="2606040"/>
            <a:ext cx="3401568" cy="457200"/>
          </a:xfrm>
          <a:prstGeom prst="rect">
            <a:avLst/>
          </a:prstGeom>
          <a:noFill/>
          <a:ln/>
        </p:spPr>
        <p:txBody>
          <a:bodyPr wrap="square"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The Result</a:t>
            </a:r>
            <a:endParaRPr lang="en-US" sz="1350" dirty="0"/>
          </a:p>
        </p:txBody>
      </p:sp>
      <p:sp>
        <p:nvSpPr>
          <p:cNvPr id="18" name="Text 15"/>
          <p:cNvSpPr/>
          <p:nvPr/>
        </p:nvSpPr>
        <p:spPr>
          <a:xfrm>
            <a:off x="7918704" y="3200400"/>
            <a:ext cx="2999232" cy="1645920"/>
          </a:xfrm>
          <a:prstGeom prst="rect">
            <a:avLst/>
          </a:prstGeom>
          <a:noFill/>
          <a:ln/>
        </p:spPr>
        <p:txBody>
          <a:bodyPr wrap="square" rtlCol="0" anchor="ctr"/>
          <a:lstStyle/>
          <a:p>
            <a:pPr marL="0" indent="0">
              <a:lnSpc>
                <a:spcPct val="125000"/>
              </a:lnSpc>
              <a:buNone/>
            </a:pPr>
            <a:r>
              <a:rPr lang="en-US" sz="1150" dirty="0">
                <a:solidFill>
                  <a:srgbClr val="5B6178"/>
                </a:solidFill>
                <a:latin typeface="Calibri" pitchFamily="34" charset="0"/>
                <a:ea typeface="Calibri" pitchFamily="34" charset="-122"/>
                <a:cs typeface="Calibri" pitchFamily="34" charset="-120"/>
              </a:rPr>
              <a:t>Population statistics remained accurate enough for redistricting and funding decisions, while individual respondents stayed unidentifiable.</a:t>
            </a:r>
            <a:endParaRPr lang="en-US" sz="1150" dirty="0"/>
          </a:p>
        </p:txBody>
      </p:sp>
      <p:sp>
        <p:nvSpPr>
          <p:cNvPr id="19" name="Text 16"/>
          <p:cNvSpPr/>
          <p:nvPr/>
        </p:nvSpPr>
        <p:spPr>
          <a:xfrm>
            <a:off x="548640" y="5166360"/>
            <a:ext cx="10424160" cy="731520"/>
          </a:xfrm>
          <a:prstGeom prst="rect">
            <a:avLst/>
          </a:prstGeom>
          <a:noFill/>
          <a:ln/>
        </p:spPr>
        <p:txBody>
          <a:bodyPr wrap="square" rtlCol="0" anchor="ctr"/>
          <a:lstStyle/>
          <a:p>
            <a:pPr marL="0" indent="0">
              <a:lnSpc>
                <a:spcPct val="120000"/>
              </a:lnSpc>
              <a:buNone/>
            </a:pPr>
            <a:r>
              <a:rPr lang="en-US" sz="1250" b="1" i="1" dirty="0">
                <a:solidFill>
                  <a:srgbClr val="1E2761"/>
                </a:solidFill>
                <a:latin typeface="Calibri" pitchFamily="34" charset="0"/>
                <a:ea typeface="Calibri" pitchFamily="34" charset="-122"/>
                <a:cs typeface="Calibri" pitchFamily="34" charset="-120"/>
              </a:rPr>
              <a:t>Why it matters: this case shows PETs operating at national scale, proving differential privacy can protect over 330 million individuals' records while still delivering statistically usable public data.</a:t>
            </a:r>
            <a:endParaRPr lang="en-US" sz="1250" dirty="0"/>
          </a:p>
        </p:txBody>
      </p:sp>
      <p:sp>
        <p:nvSpPr>
          <p:cNvPr id="20" name="Text 1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1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4389120"/>
            <a:ext cx="4206240" cy="4206240"/>
          </a:xfrm>
          <a:prstGeom prst="ellipse">
            <a:avLst/>
          </a:prstGeom>
          <a:solidFill>
            <a:srgbClr val="141A45"/>
          </a:solidFill>
          <a:ln/>
        </p:spPr>
      </p:sp>
      <p:sp>
        <p:nvSpPr>
          <p:cNvPr id="3" name="Shape 1"/>
          <p:cNvSpPr/>
          <p:nvPr/>
        </p:nvSpPr>
        <p:spPr>
          <a:xfrm>
            <a:off x="548640" y="548640"/>
            <a:ext cx="914400" cy="914400"/>
          </a:xfrm>
          <a:prstGeom prst="ellipse">
            <a:avLst/>
          </a:prstGeom>
          <a:solidFill>
            <a:srgbClr val="02C39A"/>
          </a:solidFill>
          <a:ln/>
        </p:spPr>
      </p:sp>
      <p:pic>
        <p:nvPicPr>
          <p:cNvPr id="4" name="Image 0" descr="/home/claude/pet_ppt/conclusion.png"/>
          <p:cNvPicPr>
            <a:picLocks noChangeAspect="1"/>
          </p:cNvPicPr>
          <p:nvPr/>
        </p:nvPicPr>
        <p:blipFill>
          <a:blip r:embed="rId3"/>
          <a:stretch>
            <a:fillRect/>
          </a:stretch>
        </p:blipFill>
        <p:spPr>
          <a:xfrm>
            <a:off x="667512" y="667512"/>
            <a:ext cx="676656" cy="676656"/>
          </a:xfrm>
          <a:prstGeom prst="rect">
            <a:avLst/>
          </a:prstGeom>
        </p:spPr>
      </p:pic>
      <p:sp>
        <p:nvSpPr>
          <p:cNvPr id="5" name="Text 2"/>
          <p:cNvSpPr/>
          <p:nvPr/>
        </p:nvSpPr>
        <p:spPr>
          <a:xfrm>
            <a:off x="548640" y="1600200"/>
            <a:ext cx="9144000" cy="5943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and References</a:t>
            </a:r>
            <a:endParaRPr lang="en-US" sz="3000" dirty="0"/>
          </a:p>
        </p:txBody>
      </p:sp>
      <p:sp>
        <p:nvSpPr>
          <p:cNvPr id="6" name="Text 3"/>
          <p:cNvSpPr/>
          <p:nvPr/>
        </p:nvSpPr>
        <p:spPr>
          <a:xfrm>
            <a:off x="548640" y="2377440"/>
            <a:ext cx="4572000" cy="32004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CONCLUSION</a:t>
            </a:r>
            <a:endParaRPr lang="en-US" sz="1300" dirty="0"/>
          </a:p>
        </p:txBody>
      </p:sp>
      <p:sp>
        <p:nvSpPr>
          <p:cNvPr id="7" name="Text 4"/>
          <p:cNvSpPr/>
          <p:nvPr/>
        </p:nvSpPr>
        <p:spPr>
          <a:xfrm>
            <a:off x="548640" y="2743200"/>
            <a:ext cx="6035040" cy="2651760"/>
          </a:xfrm>
          <a:prstGeom prst="rect">
            <a:avLst/>
          </a:prstGeom>
          <a:noFill/>
          <a:ln/>
        </p:spPr>
        <p:txBody>
          <a:bodyPr wrap="square" rtlCol="0" anchor="ctr"/>
          <a:lstStyle/>
          <a:p>
            <a:pPr marL="0" indent="0">
              <a:lnSpc>
                <a:spcPct val="135000"/>
              </a:lnSpc>
              <a:buNone/>
            </a:pPr>
            <a:r>
              <a:rPr lang="en-US" sz="1300" dirty="0">
                <a:solidFill>
                  <a:srgbClr val="CADCFC"/>
                </a:solidFill>
                <a:latin typeface="Calibri" pitchFamily="34" charset="0"/>
                <a:ea typeface="Calibri" pitchFamily="34" charset="-122"/>
                <a:cs typeface="Calibri" pitchFamily="34" charset="-120"/>
              </a:rPr>
              <a:t>Privacy-Enhancing Technologies have shifted from optional add-ons to essential infrastructure. As AI and data-driven systems scale, PETs such as differential privacy, federated learning, and homomorphic encryption make it possible to extract value from data while genuinely protecting the people behind it. Continued research, standardization, and regulation will determine how widely — and how well — these technologies are adopted.</a:t>
            </a:r>
            <a:endParaRPr lang="en-US" sz="1300" dirty="0"/>
          </a:p>
        </p:txBody>
      </p:sp>
      <p:sp>
        <p:nvSpPr>
          <p:cNvPr id="8" name="Shape 5"/>
          <p:cNvSpPr/>
          <p:nvPr/>
        </p:nvSpPr>
        <p:spPr>
          <a:xfrm>
            <a:off x="6903720" y="2377440"/>
            <a:ext cx="4709160" cy="3794760"/>
          </a:xfrm>
          <a:prstGeom prst="roundRect">
            <a:avLst>
              <a:gd name="adj" fmla="val 1928"/>
            </a:avLst>
          </a:prstGeom>
          <a:solidFill>
            <a:srgbClr val="141A45"/>
          </a:solidFill>
          <a:ln/>
        </p:spPr>
      </p:sp>
      <p:sp>
        <p:nvSpPr>
          <p:cNvPr id="9" name="Text 6"/>
          <p:cNvSpPr/>
          <p:nvPr/>
        </p:nvSpPr>
        <p:spPr>
          <a:xfrm>
            <a:off x="7178040" y="2560320"/>
            <a:ext cx="4206240" cy="32004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REFERENCES</a:t>
            </a:r>
            <a:endParaRPr lang="en-US" sz="1300" dirty="0"/>
          </a:p>
        </p:txBody>
      </p:sp>
      <p:sp>
        <p:nvSpPr>
          <p:cNvPr id="10" name="Text 7"/>
          <p:cNvSpPr/>
          <p:nvPr/>
        </p:nvSpPr>
        <p:spPr>
          <a:xfrm>
            <a:off x="7178040" y="3017520"/>
            <a:ext cx="4160520" cy="502920"/>
          </a:xfrm>
          <a:prstGeom prst="rect">
            <a:avLst/>
          </a:prstGeom>
          <a:noFill/>
          <a:ln/>
        </p:spPr>
        <p:txBody>
          <a:bodyPr wrap="square" rtlCol="0" anchor="t"/>
          <a:lstStyle/>
          <a:p>
            <a:pPr marL="0" indent="0">
              <a:lnSpc>
                <a:spcPct val="115000"/>
              </a:lnSpc>
              <a:buNone/>
            </a:pPr>
            <a:r>
              <a:rPr lang="en-US" sz="1000" dirty="0">
                <a:solidFill>
                  <a:srgbClr val="CADCFC"/>
                </a:solidFill>
                <a:latin typeface="Calibri" pitchFamily="34" charset="0"/>
                <a:ea typeface="Calibri" pitchFamily="34" charset="-122"/>
                <a:cs typeface="Calibri" pitchFamily="34" charset="-120"/>
              </a:rPr>
              <a:t>Dwork, C. &amp; Roth, A. (2014). The Algorithmic Foundations of Differential Privacy.</a:t>
            </a:r>
            <a:endParaRPr lang="en-US" sz="1000" dirty="0"/>
          </a:p>
        </p:txBody>
      </p:sp>
      <p:sp>
        <p:nvSpPr>
          <p:cNvPr id="11" name="Text 8"/>
          <p:cNvSpPr/>
          <p:nvPr/>
        </p:nvSpPr>
        <p:spPr>
          <a:xfrm>
            <a:off x="7178040" y="3547872"/>
            <a:ext cx="4160520" cy="502920"/>
          </a:xfrm>
          <a:prstGeom prst="rect">
            <a:avLst/>
          </a:prstGeom>
          <a:noFill/>
          <a:ln/>
        </p:spPr>
        <p:txBody>
          <a:bodyPr wrap="square" rtlCol="0" anchor="t"/>
          <a:lstStyle/>
          <a:p>
            <a:pPr marL="0" indent="0">
              <a:lnSpc>
                <a:spcPct val="115000"/>
              </a:lnSpc>
              <a:buNone/>
            </a:pPr>
            <a:r>
              <a:rPr lang="en-US" sz="1000" dirty="0">
                <a:solidFill>
                  <a:srgbClr val="CADCFC"/>
                </a:solidFill>
                <a:latin typeface="Calibri" pitchFamily="34" charset="0"/>
                <a:ea typeface="Calibri" pitchFamily="34" charset="-122"/>
                <a:cs typeface="Calibri" pitchFamily="34" charset="-120"/>
              </a:rPr>
              <a:t>European Union. (2016). General Data Protection Regulation (GDPR).</a:t>
            </a:r>
            <a:endParaRPr lang="en-US" sz="1000" dirty="0"/>
          </a:p>
        </p:txBody>
      </p:sp>
      <p:sp>
        <p:nvSpPr>
          <p:cNvPr id="12" name="Text 9"/>
          <p:cNvSpPr/>
          <p:nvPr/>
        </p:nvSpPr>
        <p:spPr>
          <a:xfrm>
            <a:off x="7178040" y="4078224"/>
            <a:ext cx="4160520" cy="502920"/>
          </a:xfrm>
          <a:prstGeom prst="rect">
            <a:avLst/>
          </a:prstGeom>
          <a:noFill/>
          <a:ln/>
        </p:spPr>
        <p:txBody>
          <a:bodyPr wrap="square" rtlCol="0" anchor="t"/>
          <a:lstStyle/>
          <a:p>
            <a:pPr marL="0" indent="0">
              <a:lnSpc>
                <a:spcPct val="115000"/>
              </a:lnSpc>
              <a:buNone/>
            </a:pPr>
            <a:r>
              <a:rPr lang="en-US" sz="1000" dirty="0">
                <a:solidFill>
                  <a:srgbClr val="CADCFC"/>
                </a:solidFill>
                <a:latin typeface="Calibri" pitchFamily="34" charset="0"/>
                <a:ea typeface="Calibri" pitchFamily="34" charset="-122"/>
                <a:cs typeface="Calibri" pitchFamily="34" charset="-120"/>
              </a:rPr>
              <a:t>U.S. Census Bureau. (2021). Disclosure Avoidance for the 2020 Census.</a:t>
            </a:r>
            <a:endParaRPr lang="en-US" sz="1000" dirty="0"/>
          </a:p>
        </p:txBody>
      </p:sp>
      <p:sp>
        <p:nvSpPr>
          <p:cNvPr id="13" name="Text 10"/>
          <p:cNvSpPr/>
          <p:nvPr/>
        </p:nvSpPr>
        <p:spPr>
          <a:xfrm>
            <a:off x="7178040" y="4608576"/>
            <a:ext cx="4160520" cy="502920"/>
          </a:xfrm>
          <a:prstGeom prst="rect">
            <a:avLst/>
          </a:prstGeom>
          <a:noFill/>
          <a:ln/>
        </p:spPr>
        <p:txBody>
          <a:bodyPr wrap="square" rtlCol="0" anchor="t"/>
          <a:lstStyle/>
          <a:p>
            <a:pPr marL="0" indent="0">
              <a:lnSpc>
                <a:spcPct val="115000"/>
              </a:lnSpc>
              <a:buNone/>
            </a:pPr>
            <a:r>
              <a:rPr lang="en-US" sz="1000" dirty="0">
                <a:solidFill>
                  <a:srgbClr val="CADCFC"/>
                </a:solidFill>
                <a:latin typeface="Calibri" pitchFamily="34" charset="0"/>
                <a:ea typeface="Calibri" pitchFamily="34" charset="-122"/>
                <a:cs typeface="Calibri" pitchFamily="34" charset="-120"/>
              </a:rPr>
              <a:t>NIST. (2023). Privacy-Enhancing Technologies: A Review of Tools and Techniques.</a:t>
            </a:r>
            <a:endParaRPr lang="en-US" sz="1000" dirty="0"/>
          </a:p>
        </p:txBody>
      </p:sp>
      <p:sp>
        <p:nvSpPr>
          <p:cNvPr id="14" name="Text 11"/>
          <p:cNvSpPr/>
          <p:nvPr/>
        </p:nvSpPr>
        <p:spPr>
          <a:xfrm>
            <a:off x="7178040" y="5138928"/>
            <a:ext cx="4160520" cy="502920"/>
          </a:xfrm>
          <a:prstGeom prst="rect">
            <a:avLst/>
          </a:prstGeom>
          <a:noFill/>
          <a:ln/>
        </p:spPr>
        <p:txBody>
          <a:bodyPr wrap="square" rtlCol="0" anchor="t"/>
          <a:lstStyle/>
          <a:p>
            <a:pPr marL="0" indent="0">
              <a:lnSpc>
                <a:spcPct val="115000"/>
              </a:lnSpc>
              <a:buNone/>
            </a:pPr>
            <a:r>
              <a:rPr lang="en-US" sz="1000" dirty="0">
                <a:solidFill>
                  <a:srgbClr val="CADCFC"/>
                </a:solidFill>
                <a:latin typeface="Calibri" pitchFamily="34" charset="0"/>
                <a:ea typeface="Calibri" pitchFamily="34" charset="-122"/>
                <a:cs typeface="Calibri" pitchFamily="34" charset="-120"/>
              </a:rPr>
              <a:t>UK Information Commissioner's Office. (2023). Guidance on PETs.</a:t>
            </a:r>
            <a:endParaRPr lang="en-US" sz="1000" dirty="0"/>
          </a:p>
        </p:txBody>
      </p:sp>
      <p:sp>
        <p:nvSpPr>
          <p:cNvPr id="15" name="Text 12"/>
          <p:cNvSpPr/>
          <p:nvPr/>
        </p:nvSpPr>
        <p:spPr>
          <a:xfrm>
            <a:off x="7178040" y="5669280"/>
            <a:ext cx="4160520" cy="502920"/>
          </a:xfrm>
          <a:prstGeom prst="rect">
            <a:avLst/>
          </a:prstGeom>
          <a:noFill/>
          <a:ln/>
        </p:spPr>
        <p:txBody>
          <a:bodyPr wrap="square" rtlCol="0" anchor="t"/>
          <a:lstStyle/>
          <a:p>
            <a:pPr marL="0" indent="0">
              <a:lnSpc>
                <a:spcPct val="115000"/>
              </a:lnSpc>
              <a:buNone/>
            </a:pPr>
            <a:r>
              <a:rPr lang="en-US" sz="1000" dirty="0">
                <a:solidFill>
                  <a:srgbClr val="CADCFC"/>
                </a:solidFill>
                <a:latin typeface="Calibri" pitchFamily="34" charset="0"/>
                <a:ea typeface="Calibri" pitchFamily="34" charset="-122"/>
                <a:cs typeface="Calibri" pitchFamily="34" charset="-120"/>
              </a:rPr>
              <a:t>McMahan, B. et al. (2017). Communication-Efficient Federated Learning.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1172</Words>
  <Application>Microsoft Office PowerPoint</Application>
  <PresentationFormat>Widescreen</PresentationFormat>
  <Paragraphs>167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jana lokesh</cp:lastModifiedBy>
  <cp:revision>2</cp:revision>
  <dcterms:created xsi:type="dcterms:W3CDTF">2026-08-21T03:06:33Z</dcterms:created>
  <dcterms:modified xsi:type="dcterms:W3CDTF">2026-08-21T03:10:28Z</dcterms:modified>
</cp:coreProperties>
</file>